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Poppins Semi-Bold" charset="1" panose="00000700000000000000"/>
      <p:regular r:id="rId27"/>
    </p:embeddedFont>
    <p:embeddedFont>
      <p:font typeface="Poppins" charset="1" panose="00000500000000000000"/>
      <p:regular r:id="rId28"/>
    </p:embeddedFont>
    <p:embeddedFont>
      <p:font typeface="Poppins Bold" charset="1" panose="00000800000000000000"/>
      <p:regular r:id="rId29"/>
    </p:embeddedFont>
    <p:embeddedFont>
      <p:font typeface="DM Sans" charset="1" panose="00000000000000000000"/>
      <p:regular r:id="rId30"/>
    </p:embeddedFont>
    <p:embeddedFont>
      <p:font typeface="Open Sans" charset="1" panose="020B0606030504020204"/>
      <p:regular r:id="rId31"/>
    </p:embeddedFont>
    <p:embeddedFont>
      <p:font typeface="Open Sans Bold" charset="1" panose="020B0806030504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2.png" Type="http://schemas.openxmlformats.org/officeDocument/2006/relationships/image"/><Relationship Id="rId9" Target="../media/image1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2.png" Type="http://schemas.openxmlformats.org/officeDocument/2006/relationships/image"/><Relationship Id="rId9"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690304" y="-445819"/>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AAD7D4">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571132" y="6449964"/>
            <a:ext cx="6983181" cy="669188"/>
            <a:chOff x="0" y="0"/>
            <a:chExt cx="1839192" cy="176247"/>
          </a:xfrm>
        </p:grpSpPr>
        <p:sp>
          <p:nvSpPr>
            <p:cNvPr name="Freeform 7" id="7"/>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8" id="8"/>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531367" y="3061003"/>
            <a:ext cx="14251402" cy="3186512"/>
          </a:xfrm>
          <a:prstGeom prst="rect">
            <a:avLst/>
          </a:prstGeom>
        </p:spPr>
        <p:txBody>
          <a:bodyPr anchor="t" rtlCol="false" tIns="0" lIns="0" bIns="0" rIns="0">
            <a:spAutoFit/>
          </a:bodyPr>
          <a:lstStyle/>
          <a:p>
            <a:pPr algn="ctr">
              <a:lnSpc>
                <a:spcPts val="5991"/>
              </a:lnSpc>
            </a:pPr>
            <a:r>
              <a:rPr lang="en-US" b="true" sz="7133" spc="-385">
                <a:solidFill>
                  <a:srgbClr val="1C2120"/>
                </a:solidFill>
                <a:latin typeface="Poppins Semi-Bold"/>
                <a:ea typeface="Poppins Semi-Bold"/>
                <a:cs typeface="Poppins Semi-Bold"/>
                <a:sym typeface="Poppins Semi-Bold"/>
              </a:rPr>
              <a:t>PERANCANGAN DAN IMPLEMENTASI SISTEM BASIS DATA INTERAKTIF UNTUK INFORMASI SEKOLAH MENENGAH DI INDONESIA</a:t>
            </a:r>
          </a:p>
        </p:txBody>
      </p:sp>
      <p:sp>
        <p:nvSpPr>
          <p:cNvPr name="TextBox 10" id="10"/>
          <p:cNvSpPr txBox="true"/>
          <p:nvPr/>
        </p:nvSpPr>
        <p:spPr>
          <a:xfrm rot="0">
            <a:off x="5835017" y="6562438"/>
            <a:ext cx="6617965" cy="482339"/>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GROUP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7788" y="-177024"/>
            <a:ext cx="7097803" cy="11057957"/>
          </a:xfrm>
          <a:custGeom>
            <a:avLst/>
            <a:gdLst/>
            <a:ahLst/>
            <a:cxnLst/>
            <a:rect r="r" b="b" t="t" l="l"/>
            <a:pathLst>
              <a:path h="11057957" w="7097803">
                <a:moveTo>
                  <a:pt x="0" y="0"/>
                </a:moveTo>
                <a:lnTo>
                  <a:pt x="7097803" y="0"/>
                </a:lnTo>
                <a:lnTo>
                  <a:pt x="7097803" y="11057957"/>
                </a:lnTo>
                <a:lnTo>
                  <a:pt x="0" y="11057957"/>
                </a:lnTo>
                <a:lnTo>
                  <a:pt x="0" y="0"/>
                </a:lnTo>
                <a:close/>
              </a:path>
            </a:pathLst>
          </a:custGeom>
          <a:blipFill>
            <a:blip r:embed="rId2"/>
            <a:stretch>
              <a:fillRect l="-131569" t="0" r="-2267" b="0"/>
            </a:stretch>
          </a:blipFill>
        </p:spPr>
      </p:sp>
      <p:grpSp>
        <p:nvGrpSpPr>
          <p:cNvPr name="Group 3" id="3"/>
          <p:cNvGrpSpPr/>
          <p:nvPr/>
        </p:nvGrpSpPr>
        <p:grpSpPr>
          <a:xfrm rot="0">
            <a:off x="-514350" y="0"/>
            <a:ext cx="7454365" cy="10601584"/>
            <a:chOff x="0" y="0"/>
            <a:chExt cx="1963290" cy="2792187"/>
          </a:xfrm>
        </p:grpSpPr>
        <p:sp>
          <p:nvSpPr>
            <p:cNvPr name="Freeform 4" id="4"/>
            <p:cNvSpPr/>
            <p:nvPr/>
          </p:nvSpPr>
          <p:spPr>
            <a:xfrm flipH="false" flipV="false" rot="0">
              <a:off x="0" y="0"/>
              <a:ext cx="1963290" cy="2792187"/>
            </a:xfrm>
            <a:custGeom>
              <a:avLst/>
              <a:gdLst/>
              <a:ahLst/>
              <a:cxnLst/>
              <a:rect r="r" b="b" t="t" l="l"/>
              <a:pathLst>
                <a:path h="2792187" w="1963290">
                  <a:moveTo>
                    <a:pt x="0" y="0"/>
                  </a:moveTo>
                  <a:lnTo>
                    <a:pt x="1963290" y="0"/>
                  </a:lnTo>
                  <a:lnTo>
                    <a:pt x="1963290" y="2792187"/>
                  </a:lnTo>
                  <a:lnTo>
                    <a:pt x="0" y="2792187"/>
                  </a:lnTo>
                  <a:close/>
                </a:path>
              </a:pathLst>
            </a:custGeom>
            <a:solidFill>
              <a:srgbClr val="AAD7D4">
                <a:alpha val="55686"/>
              </a:srgbClr>
            </a:solidFill>
          </p:spPr>
        </p:sp>
        <p:sp>
          <p:nvSpPr>
            <p:cNvPr name="TextBox 5" id="5"/>
            <p:cNvSpPr txBox="true"/>
            <p:nvPr/>
          </p:nvSpPr>
          <p:spPr>
            <a:xfrm>
              <a:off x="0" y="-38100"/>
              <a:ext cx="1963290" cy="283028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438669" y="1123950"/>
            <a:ext cx="8011990" cy="2152356"/>
          </a:xfrm>
          <a:prstGeom prst="rect">
            <a:avLst/>
          </a:prstGeom>
        </p:spPr>
        <p:txBody>
          <a:bodyPr anchor="t" rtlCol="false" tIns="0" lIns="0" bIns="0" rIns="0">
            <a:spAutoFit/>
          </a:bodyPr>
          <a:lstStyle/>
          <a:p>
            <a:pPr algn="l">
              <a:lnSpc>
                <a:spcPts val="7935"/>
              </a:lnSpc>
            </a:pPr>
            <a:r>
              <a:rPr lang="en-US" sz="8180" b="true">
                <a:solidFill>
                  <a:srgbClr val="1C2120"/>
                </a:solidFill>
                <a:latin typeface="Poppins Bold"/>
                <a:ea typeface="Poppins Bold"/>
                <a:cs typeface="Poppins Bold"/>
                <a:sym typeface="Poppins Bold"/>
              </a:rPr>
              <a:t>Latar Belakang</a:t>
            </a:r>
          </a:p>
        </p:txBody>
      </p:sp>
      <p:sp>
        <p:nvSpPr>
          <p:cNvPr name="TextBox 7" id="7"/>
          <p:cNvSpPr txBox="true"/>
          <p:nvPr/>
        </p:nvSpPr>
        <p:spPr>
          <a:xfrm rot="0">
            <a:off x="7438669" y="3632533"/>
            <a:ext cx="10469146" cy="6463097"/>
          </a:xfrm>
          <a:prstGeom prst="rect">
            <a:avLst/>
          </a:prstGeom>
        </p:spPr>
        <p:txBody>
          <a:bodyPr anchor="t" rtlCol="false" tIns="0" lIns="0" bIns="0" rIns="0">
            <a:spAutoFit/>
          </a:bodyPr>
          <a:lstStyle/>
          <a:p>
            <a:pPr algn="just" marL="0" indent="0" lvl="0">
              <a:lnSpc>
                <a:spcPts val="2896"/>
              </a:lnSpc>
              <a:spcBef>
                <a:spcPct val="0"/>
              </a:spcBef>
            </a:pPr>
            <a:r>
              <a:rPr lang="en-US" sz="2145" spc="128">
                <a:solidFill>
                  <a:srgbClr val="000000"/>
                </a:solidFill>
                <a:latin typeface="DM Sans"/>
                <a:ea typeface="DM Sans"/>
                <a:cs typeface="DM Sans"/>
                <a:sym typeface="DM Sans"/>
              </a:rPr>
              <a:t>Dalam era digital saat ini, kebutuhan akan informasi yang cepat, akurat, dan terintegrasi menjadi sangat penting di berbagai sektor, termasuk p</a:t>
            </a:r>
            <a:r>
              <a:rPr lang="en-US" sz="2145" spc="128" u="none">
                <a:solidFill>
                  <a:srgbClr val="000000"/>
                </a:solidFill>
                <a:latin typeface="DM Sans"/>
                <a:ea typeface="DM Sans"/>
                <a:cs typeface="DM Sans"/>
                <a:sym typeface="DM Sans"/>
              </a:rPr>
              <a:t>endidikan. Pendidikan merupakan pilar utama dalam pembangunan bangsa, dan sekolah menengah memegang peran vital sebagai jembatan antara pendidikan dasar dan pendidikan tinggi. Sayangnya, data sekolah di Indonesia masih tersebar di berbagai sumber dan belum terintegrasi secara optimal, sehingga menyulitkan proses analisis maupun pengambilan keputusan berbasis data.</a:t>
            </a:r>
          </a:p>
          <a:p>
            <a:pPr algn="just" marL="0" indent="0" lvl="0">
              <a:lnSpc>
                <a:spcPts val="2896"/>
              </a:lnSpc>
              <a:spcBef>
                <a:spcPct val="0"/>
              </a:spcBef>
            </a:pPr>
          </a:p>
          <a:p>
            <a:pPr algn="just" marL="0" indent="0" lvl="0">
              <a:lnSpc>
                <a:spcPts val="2896"/>
              </a:lnSpc>
              <a:spcBef>
                <a:spcPct val="0"/>
              </a:spcBef>
            </a:pPr>
            <a:r>
              <a:rPr lang="en-US" sz="2145" spc="128" u="none">
                <a:solidFill>
                  <a:srgbClr val="000000"/>
                </a:solidFill>
                <a:latin typeface="DM Sans"/>
                <a:ea typeface="DM Sans"/>
                <a:cs typeface="DM Sans"/>
                <a:sym typeface="DM Sans"/>
              </a:rPr>
              <a:t>Melalui pemanfaatan teknologi basis data dan aplikasi digital, data mentah seperti file CSV dari Kementerian Pendidikan dapat diolah menjadi informasi yang lebih terstruktur dan bermanfaat. Untuk menjawab tantangan tersebut, dibangunlah sebuah sistem aplikasi pengelolaan data sekolah menengah yang mampu menyimpan, mencari, dan memvisualisasikan data secara efisien. Sistem ini diharapkan dapat mendukung pembuatan kebijakan pendidikan yang lebih tepat, terarah, dan berbasis bukti nyata.</a:t>
            </a:r>
          </a:p>
          <a:p>
            <a:pPr algn="just" marL="0" indent="0" lvl="0">
              <a:lnSpc>
                <a:spcPts val="2896"/>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6011712"/>
            <a:ext cx="1031674" cy="1252584"/>
          </a:xfrm>
          <a:custGeom>
            <a:avLst/>
            <a:gdLst/>
            <a:ahLst/>
            <a:cxnLst/>
            <a:rect r="r" b="b" t="t" l="l"/>
            <a:pathLst>
              <a:path h="1252584" w="1031674">
                <a:moveTo>
                  <a:pt x="0" y="0"/>
                </a:moveTo>
                <a:lnTo>
                  <a:pt x="1031674" y="0"/>
                </a:lnTo>
                <a:lnTo>
                  <a:pt x="1031674" y="1252584"/>
                </a:lnTo>
                <a:lnTo>
                  <a:pt x="0" y="12525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44100" y="3644594"/>
            <a:ext cx="1400875" cy="924578"/>
          </a:xfrm>
          <a:custGeom>
            <a:avLst/>
            <a:gdLst/>
            <a:ahLst/>
            <a:cxnLst/>
            <a:rect r="r" b="b" t="t" l="l"/>
            <a:pathLst>
              <a:path h="924578" w="1400875">
                <a:moveTo>
                  <a:pt x="0" y="0"/>
                </a:moveTo>
                <a:lnTo>
                  <a:pt x="1400875" y="0"/>
                </a:lnTo>
                <a:lnTo>
                  <a:pt x="1400875" y="924577"/>
                </a:lnTo>
                <a:lnTo>
                  <a:pt x="0" y="9245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205602"/>
            <a:ext cx="10204948" cy="132215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Deskripsi Aplikasi</a:t>
            </a:r>
          </a:p>
        </p:txBody>
      </p:sp>
      <p:sp>
        <p:nvSpPr>
          <p:cNvPr name="TextBox 5" id="5"/>
          <p:cNvSpPr txBox="true"/>
          <p:nvPr/>
        </p:nvSpPr>
        <p:spPr>
          <a:xfrm rot="0">
            <a:off x="2449137" y="3295871"/>
            <a:ext cx="14810163" cy="5590798"/>
          </a:xfrm>
          <a:prstGeom prst="rect">
            <a:avLst/>
          </a:prstGeom>
        </p:spPr>
        <p:txBody>
          <a:bodyPr anchor="t" rtlCol="false" tIns="0" lIns="0" bIns="0" rIns="0">
            <a:spAutoFit/>
          </a:bodyPr>
          <a:lstStyle/>
          <a:p>
            <a:pPr algn="just" marL="0" indent="0" lvl="0">
              <a:lnSpc>
                <a:spcPts val="3233"/>
              </a:lnSpc>
              <a:spcBef>
                <a:spcPct val="0"/>
              </a:spcBef>
            </a:pPr>
            <a:r>
              <a:rPr lang="en-US" sz="2395" spc="143">
                <a:solidFill>
                  <a:srgbClr val="000000"/>
                </a:solidFill>
                <a:latin typeface="DM Sans"/>
                <a:ea typeface="DM Sans"/>
                <a:cs typeface="DM Sans"/>
                <a:sym typeface="DM Sans"/>
              </a:rPr>
              <a:t>Aplikasi yang kami kembangkan me</a:t>
            </a:r>
            <a:r>
              <a:rPr lang="en-US" sz="2395" spc="143" u="none">
                <a:solidFill>
                  <a:srgbClr val="000000"/>
                </a:solidFill>
                <a:latin typeface="DM Sans"/>
                <a:ea typeface="DM Sans"/>
                <a:cs typeface="DM Sans"/>
                <a:sym typeface="DM Sans"/>
              </a:rPr>
              <a:t>rupakan sistem basis data interaktif yang dirancang untuk mengelola dan menyajikan informasi mengenai sekolah menengah di Indonesia. Sistem ini memanfaatkan Oracle APEXsebagai platform pengembangan antarmuka aplikasi berbasis web, sementara data intinya bersumber dari file CSV yang berisi ribuan entri sekolah menengah — mencakup jenjang SMA, SMK, dan sederajat — dari berbagai provinsi di Indonesia.</a:t>
            </a:r>
          </a:p>
          <a:p>
            <a:pPr algn="just" marL="0" indent="0" lvl="0">
              <a:lnSpc>
                <a:spcPts val="3233"/>
              </a:lnSpc>
              <a:spcBef>
                <a:spcPct val="0"/>
              </a:spcBef>
            </a:pPr>
          </a:p>
          <a:p>
            <a:pPr algn="just" marL="0" indent="0" lvl="0">
              <a:lnSpc>
                <a:spcPts val="3233"/>
              </a:lnSpc>
              <a:spcBef>
                <a:spcPct val="0"/>
              </a:spcBef>
            </a:pPr>
            <a:r>
              <a:rPr lang="en-US" sz="2395" spc="143" u="none">
                <a:solidFill>
                  <a:srgbClr val="000000"/>
                </a:solidFill>
                <a:latin typeface="DM Sans"/>
                <a:ea typeface="DM Sans"/>
                <a:cs typeface="DM Sans"/>
                <a:sym typeface="DM Sans"/>
              </a:rPr>
              <a:t>Dalam proses implementasinya, data dari file CSV di parsing ke dalam sistem basis data relasional. Setiap sekolah diidentifikasi berdasarkan atribut-atribut penting seperti nama sekolah, NPSN (Nomor Pokok Sekolah Nasional), status (negeri/swasta), akreditasi, jumlah siswa laki-laki dan perempuan, serta lokasi geografis (provinsi, kota/kabupaten, dan alamat lengkap). Struktur basis data dirancang dengan mempertimbangkan efisiensi penyimpanan dan kemudahan dalam proses pencarian (query), pelaporan, dan visualisasi data.</a:t>
            </a:r>
          </a:p>
          <a:p>
            <a:pPr algn="just" marL="0" indent="0" lvl="0">
              <a:lnSpc>
                <a:spcPts val="3233"/>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558798" y="2697161"/>
            <a:ext cx="4892678" cy="489267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136" t="0" r="-25136" b="0"/>
              </a:stretch>
            </a:blipFill>
          </p:spPr>
        </p:sp>
      </p:grpSp>
      <p:grpSp>
        <p:nvGrpSpPr>
          <p:cNvPr name="Group 4" id="4"/>
          <p:cNvGrpSpPr/>
          <p:nvPr/>
        </p:nvGrpSpPr>
        <p:grpSpPr>
          <a:xfrm rot="0">
            <a:off x="12796261" y="1028700"/>
            <a:ext cx="1463216" cy="1463216"/>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5567318" y="2697161"/>
            <a:ext cx="1463216" cy="146321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567318" y="5927221"/>
            <a:ext cx="1463216" cy="146321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28119" y="1639405"/>
            <a:ext cx="1463216" cy="1463216"/>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0388852" y="2066895"/>
            <a:ext cx="741751" cy="608236"/>
          </a:xfrm>
          <a:custGeom>
            <a:avLst/>
            <a:gdLst/>
            <a:ahLst/>
            <a:cxnLst/>
            <a:rect r="r" b="b" t="t" l="l"/>
            <a:pathLst>
              <a:path h="608236" w="741751">
                <a:moveTo>
                  <a:pt x="0" y="0"/>
                </a:moveTo>
                <a:lnTo>
                  <a:pt x="741751" y="0"/>
                </a:lnTo>
                <a:lnTo>
                  <a:pt x="741751" y="608236"/>
                </a:lnTo>
                <a:lnTo>
                  <a:pt x="0" y="6082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3175910" y="1332986"/>
            <a:ext cx="703917" cy="854645"/>
          </a:xfrm>
          <a:custGeom>
            <a:avLst/>
            <a:gdLst/>
            <a:ahLst/>
            <a:cxnLst/>
            <a:rect r="r" b="b" t="t" l="l"/>
            <a:pathLst>
              <a:path h="854645" w="703917">
                <a:moveTo>
                  <a:pt x="0" y="0"/>
                </a:moveTo>
                <a:lnTo>
                  <a:pt x="703917" y="0"/>
                </a:lnTo>
                <a:lnTo>
                  <a:pt x="703917" y="854645"/>
                </a:lnTo>
                <a:lnTo>
                  <a:pt x="0" y="8546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15804764" y="3102622"/>
            <a:ext cx="988326" cy="652295"/>
          </a:xfrm>
          <a:custGeom>
            <a:avLst/>
            <a:gdLst/>
            <a:ahLst/>
            <a:cxnLst/>
            <a:rect r="r" b="b" t="t" l="l"/>
            <a:pathLst>
              <a:path h="652295" w="988326">
                <a:moveTo>
                  <a:pt x="0" y="0"/>
                </a:moveTo>
                <a:lnTo>
                  <a:pt x="988326" y="0"/>
                </a:lnTo>
                <a:lnTo>
                  <a:pt x="988326" y="652295"/>
                </a:lnTo>
                <a:lnTo>
                  <a:pt x="0" y="6522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5875201" y="6240496"/>
            <a:ext cx="847451" cy="836665"/>
          </a:xfrm>
          <a:custGeom>
            <a:avLst/>
            <a:gdLst/>
            <a:ahLst/>
            <a:cxnLst/>
            <a:rect r="r" b="b" t="t" l="l"/>
            <a:pathLst>
              <a:path h="836665" w="847451">
                <a:moveTo>
                  <a:pt x="0" y="0"/>
                </a:moveTo>
                <a:lnTo>
                  <a:pt x="847451" y="0"/>
                </a:lnTo>
                <a:lnTo>
                  <a:pt x="847451" y="836665"/>
                </a:lnTo>
                <a:lnTo>
                  <a:pt x="0" y="83666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1138218" y="1202046"/>
            <a:ext cx="8537476" cy="254164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Tujuan Penelitian</a:t>
            </a:r>
          </a:p>
        </p:txBody>
      </p:sp>
      <p:sp>
        <p:nvSpPr>
          <p:cNvPr name="TextBox 21" id="21"/>
          <p:cNvSpPr txBox="true"/>
          <p:nvPr/>
        </p:nvSpPr>
        <p:spPr>
          <a:xfrm rot="0">
            <a:off x="1138218" y="3923536"/>
            <a:ext cx="8783319" cy="4999947"/>
          </a:xfrm>
          <a:prstGeom prst="rect">
            <a:avLst/>
          </a:prstGeom>
        </p:spPr>
        <p:txBody>
          <a:bodyPr anchor="t" rtlCol="false" tIns="0" lIns="0" bIns="0" rIns="0">
            <a:spAutoFit/>
          </a:bodyPr>
          <a:lstStyle/>
          <a:p>
            <a:pPr algn="l" marL="539868" indent="-269934" lvl="1">
              <a:lnSpc>
                <a:spcPts val="3375"/>
              </a:lnSpc>
              <a:buAutoNum type="arabicPeriod" startAt="1"/>
            </a:pPr>
            <a:r>
              <a:rPr lang="en-US" sz="2500" spc="150">
                <a:solidFill>
                  <a:srgbClr val="000000"/>
                </a:solidFill>
                <a:latin typeface="DM Sans"/>
                <a:ea typeface="DM Sans"/>
                <a:cs typeface="DM Sans"/>
                <a:sym typeface="DM Sans"/>
              </a:rPr>
              <a:t>M</a:t>
            </a:r>
            <a:r>
              <a:rPr lang="en-US" sz="2500" spc="150" u="none">
                <a:solidFill>
                  <a:srgbClr val="000000"/>
                </a:solidFill>
                <a:latin typeface="DM Sans"/>
                <a:ea typeface="DM Sans"/>
                <a:cs typeface="DM Sans"/>
                <a:sym typeface="DM Sans"/>
              </a:rPr>
              <a:t>embuat sistem basis data yang menyimpan data sekolah menengah di Indonesia secara terstruktur.</a:t>
            </a:r>
          </a:p>
          <a:p>
            <a:pPr algn="l" marL="539868" indent="-269934" lvl="1">
              <a:lnSpc>
                <a:spcPts val="3375"/>
              </a:lnSpc>
              <a:buAutoNum type="arabicPeriod" startAt="1"/>
            </a:pPr>
            <a:r>
              <a:rPr lang="en-US" sz="2500" spc="150" u="none">
                <a:solidFill>
                  <a:srgbClr val="000000"/>
                </a:solidFill>
                <a:latin typeface="DM Sans"/>
                <a:ea typeface="DM Sans"/>
                <a:cs typeface="DM Sans"/>
                <a:sym typeface="DM Sans"/>
              </a:rPr>
              <a:t>Menyediakan platform yang dapat digunakan untuk mengakses informasi sekolah dengan cepat dan akurat.</a:t>
            </a:r>
          </a:p>
          <a:p>
            <a:pPr algn="l" marL="539868" indent="-269934" lvl="1">
              <a:lnSpc>
                <a:spcPts val="3375"/>
              </a:lnSpc>
              <a:buAutoNum type="arabicPeriod" startAt="1"/>
            </a:pPr>
            <a:r>
              <a:rPr lang="en-US" sz="2500" spc="150" u="none">
                <a:solidFill>
                  <a:srgbClr val="000000"/>
                </a:solidFill>
                <a:latin typeface="DM Sans"/>
                <a:ea typeface="DM Sans"/>
                <a:cs typeface="DM Sans"/>
                <a:sym typeface="DM Sans"/>
              </a:rPr>
              <a:t>Menyederhanakan proses analisis data pendidikan menengah untuk keperluan pengambilan keputusan dan penelitian.</a:t>
            </a:r>
          </a:p>
          <a:p>
            <a:pPr algn="l" marL="539868" indent="-269934" lvl="1">
              <a:lnSpc>
                <a:spcPts val="3375"/>
              </a:lnSpc>
              <a:buAutoNum type="arabicPeriod" startAt="1"/>
            </a:pPr>
            <a:r>
              <a:rPr lang="en-US" sz="2500" spc="150" u="none">
                <a:solidFill>
                  <a:srgbClr val="000000"/>
                </a:solidFill>
                <a:latin typeface="DM Sans"/>
                <a:ea typeface="DM Sans"/>
                <a:cs typeface="DM Sans"/>
                <a:sym typeface="DM Sans"/>
              </a:rPr>
              <a:t>Meningkatkan efisiensi dalam pengelolaan data pendidikan yang berskala besar.</a:t>
            </a:r>
          </a:p>
          <a:p>
            <a:pPr algn="l">
              <a:lnSpc>
                <a:spcPts val="3375"/>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92684" y="4098789"/>
            <a:ext cx="9400493" cy="3977649"/>
          </a:xfrm>
          <a:prstGeom prst="rect">
            <a:avLst/>
          </a:prstGeom>
        </p:spPr>
        <p:txBody>
          <a:bodyPr anchor="t" rtlCol="false" tIns="0" lIns="0" bIns="0" rIns="0">
            <a:spAutoFit/>
          </a:bodyPr>
          <a:lstStyle/>
          <a:p>
            <a:pPr algn="l" marL="516163" indent="-258082" lvl="1">
              <a:lnSpc>
                <a:spcPts val="3227"/>
              </a:lnSpc>
              <a:spcBef>
                <a:spcPct val="0"/>
              </a:spcBef>
              <a:buAutoNum type="arabicPeriod" startAt="1"/>
            </a:pPr>
            <a:r>
              <a:rPr lang="en-US" sz="2390" spc="143">
                <a:solidFill>
                  <a:srgbClr val="000000"/>
                </a:solidFill>
                <a:latin typeface="DM Sans"/>
                <a:ea typeface="DM Sans"/>
                <a:cs typeface="DM Sans"/>
                <a:sym typeface="DM Sans"/>
              </a:rPr>
              <a:t>Bagi P</a:t>
            </a:r>
            <a:r>
              <a:rPr lang="en-US" sz="2390" spc="143" u="none">
                <a:solidFill>
                  <a:srgbClr val="000000"/>
                </a:solidFill>
                <a:latin typeface="DM Sans"/>
                <a:ea typeface="DM Sans"/>
                <a:cs typeface="DM Sans"/>
                <a:sym typeface="DM Sans"/>
              </a:rPr>
              <a:t>emerintah: Membantu dalam perencanaan dan evaluasi kebijakan pendidikan berbasis data aktual.</a:t>
            </a:r>
          </a:p>
          <a:p>
            <a:pPr algn="l" marL="516163" indent="-258082" lvl="1">
              <a:lnSpc>
                <a:spcPts val="3227"/>
              </a:lnSpc>
              <a:spcBef>
                <a:spcPct val="0"/>
              </a:spcBef>
              <a:buAutoNum type="arabicPeriod" startAt="1"/>
            </a:pPr>
            <a:r>
              <a:rPr lang="en-US" sz="2390" spc="143" u="none">
                <a:solidFill>
                  <a:srgbClr val="000000"/>
                </a:solidFill>
                <a:latin typeface="DM Sans"/>
                <a:ea typeface="DM Sans"/>
                <a:cs typeface="DM Sans"/>
                <a:sym typeface="DM Sans"/>
              </a:rPr>
              <a:t>Bagi Sekolah: Menjadi sarana untuk memverifikasi dan mempublikasikan informasi institusi mereka.</a:t>
            </a:r>
          </a:p>
          <a:p>
            <a:pPr algn="l" marL="516163" indent="-258082" lvl="1">
              <a:lnSpc>
                <a:spcPts val="3227"/>
              </a:lnSpc>
              <a:spcBef>
                <a:spcPct val="0"/>
              </a:spcBef>
              <a:buAutoNum type="arabicPeriod" startAt="1"/>
            </a:pPr>
            <a:r>
              <a:rPr lang="en-US" sz="2390" spc="143" u="none">
                <a:solidFill>
                  <a:srgbClr val="000000"/>
                </a:solidFill>
                <a:latin typeface="DM Sans"/>
                <a:ea typeface="DM Sans"/>
                <a:cs typeface="DM Sans"/>
                <a:sym typeface="DM Sans"/>
              </a:rPr>
              <a:t>Bagi Peneliti dan Akademisi: Menyediakan sumber data yang kredibel untuk keperluan penelitian dan analisis.</a:t>
            </a:r>
          </a:p>
          <a:p>
            <a:pPr algn="l" marL="516163" indent="-258082" lvl="1">
              <a:lnSpc>
                <a:spcPts val="3227"/>
              </a:lnSpc>
              <a:spcBef>
                <a:spcPct val="0"/>
              </a:spcBef>
              <a:buAutoNum type="arabicPeriod" startAt="1"/>
            </a:pPr>
            <a:r>
              <a:rPr lang="en-US" sz="2390" spc="143" u="none">
                <a:solidFill>
                  <a:srgbClr val="000000"/>
                </a:solidFill>
                <a:latin typeface="DM Sans"/>
                <a:ea typeface="DM Sans"/>
                <a:cs typeface="DM Sans"/>
                <a:sym typeface="DM Sans"/>
              </a:rPr>
              <a:t>Bagi Masyarakat Umum: Memudahkan pencarian informasi sekolah berdasarkan lokasi, status, dan akreditasi.</a:t>
            </a:r>
          </a:p>
          <a:p>
            <a:pPr algn="l" marL="0" indent="0" lvl="0">
              <a:lnSpc>
                <a:spcPts val="3227"/>
              </a:lnSpc>
              <a:spcBef>
                <a:spcPct val="0"/>
              </a:spcBef>
            </a:pPr>
          </a:p>
        </p:txBody>
      </p:sp>
      <p:grpSp>
        <p:nvGrpSpPr>
          <p:cNvPr name="Group 3" id="3"/>
          <p:cNvGrpSpPr/>
          <p:nvPr/>
        </p:nvGrpSpPr>
        <p:grpSpPr>
          <a:xfrm rot="0">
            <a:off x="1129992" y="8076438"/>
            <a:ext cx="1024593" cy="1024593"/>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345582" y="8295804"/>
            <a:ext cx="593413" cy="585861"/>
          </a:xfrm>
          <a:custGeom>
            <a:avLst/>
            <a:gdLst/>
            <a:ahLst/>
            <a:cxnLst/>
            <a:rect r="r" b="b" t="t" l="l"/>
            <a:pathLst>
              <a:path h="585861" w="593413">
                <a:moveTo>
                  <a:pt x="0" y="0"/>
                </a:moveTo>
                <a:lnTo>
                  <a:pt x="593413" y="0"/>
                </a:lnTo>
                <a:lnTo>
                  <a:pt x="593413" y="585861"/>
                </a:lnTo>
                <a:lnTo>
                  <a:pt x="0" y="5858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648271" y="8076438"/>
            <a:ext cx="1024593" cy="102459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814538" y="8424906"/>
            <a:ext cx="692059" cy="456759"/>
          </a:xfrm>
          <a:custGeom>
            <a:avLst/>
            <a:gdLst/>
            <a:ahLst/>
            <a:cxnLst/>
            <a:rect r="r" b="b" t="t" l="l"/>
            <a:pathLst>
              <a:path h="456759" w="692059">
                <a:moveTo>
                  <a:pt x="0" y="0"/>
                </a:moveTo>
                <a:lnTo>
                  <a:pt x="692059" y="0"/>
                </a:lnTo>
                <a:lnTo>
                  <a:pt x="692059" y="456759"/>
                </a:lnTo>
                <a:lnTo>
                  <a:pt x="0" y="456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4064245" y="8076438"/>
            <a:ext cx="1024593" cy="102459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4330089" y="8289509"/>
            <a:ext cx="492906" cy="598451"/>
          </a:xfrm>
          <a:custGeom>
            <a:avLst/>
            <a:gdLst/>
            <a:ahLst/>
            <a:cxnLst/>
            <a:rect r="r" b="b" t="t" l="l"/>
            <a:pathLst>
              <a:path h="598451" w="492906">
                <a:moveTo>
                  <a:pt x="0" y="0"/>
                </a:moveTo>
                <a:lnTo>
                  <a:pt x="492906" y="0"/>
                </a:lnTo>
                <a:lnTo>
                  <a:pt x="492906" y="598451"/>
                </a:lnTo>
                <a:lnTo>
                  <a:pt x="0" y="5984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0093176" y="3075322"/>
            <a:ext cx="8498516" cy="5513412"/>
          </a:xfrm>
          <a:custGeom>
            <a:avLst/>
            <a:gdLst/>
            <a:ahLst/>
            <a:cxnLst/>
            <a:rect r="r" b="b" t="t" l="l"/>
            <a:pathLst>
              <a:path h="5513412" w="8498516">
                <a:moveTo>
                  <a:pt x="0" y="0"/>
                </a:moveTo>
                <a:lnTo>
                  <a:pt x="8498517" y="0"/>
                </a:lnTo>
                <a:lnTo>
                  <a:pt x="8498517" y="5513413"/>
                </a:lnTo>
                <a:lnTo>
                  <a:pt x="0" y="5513413"/>
                </a:lnTo>
                <a:lnTo>
                  <a:pt x="0" y="0"/>
                </a:lnTo>
                <a:close/>
              </a:path>
            </a:pathLst>
          </a:custGeom>
          <a:blipFill>
            <a:blip r:embed="rId8"/>
            <a:stretch>
              <a:fillRect l="0" t="0" r="0" b="0"/>
            </a:stretch>
          </a:blipFill>
        </p:spPr>
      </p:sp>
      <p:sp>
        <p:nvSpPr>
          <p:cNvPr name="Freeform 16" id="16"/>
          <p:cNvSpPr/>
          <p:nvPr/>
        </p:nvSpPr>
        <p:spPr>
          <a:xfrm flipH="false" flipV="false" rot="0">
            <a:off x="10816353" y="3597044"/>
            <a:ext cx="7052162" cy="3966185"/>
          </a:xfrm>
          <a:custGeom>
            <a:avLst/>
            <a:gdLst/>
            <a:ahLst/>
            <a:cxnLst/>
            <a:rect r="r" b="b" t="t" l="l"/>
            <a:pathLst>
              <a:path h="3966185" w="7052162">
                <a:moveTo>
                  <a:pt x="0" y="0"/>
                </a:moveTo>
                <a:lnTo>
                  <a:pt x="7052163" y="0"/>
                </a:lnTo>
                <a:lnTo>
                  <a:pt x="7052163" y="3966184"/>
                </a:lnTo>
                <a:lnTo>
                  <a:pt x="0" y="3966184"/>
                </a:lnTo>
                <a:lnTo>
                  <a:pt x="0" y="0"/>
                </a:lnTo>
                <a:close/>
              </a:path>
            </a:pathLst>
          </a:custGeom>
          <a:blipFill>
            <a:blip r:embed="rId9"/>
            <a:stretch>
              <a:fillRect l="-214" t="0" r="-214" b="0"/>
            </a:stretch>
          </a:blipFill>
        </p:spPr>
      </p:sp>
      <p:sp>
        <p:nvSpPr>
          <p:cNvPr name="TextBox 17" id="17"/>
          <p:cNvSpPr txBox="true"/>
          <p:nvPr/>
        </p:nvSpPr>
        <p:spPr>
          <a:xfrm rot="0">
            <a:off x="793631" y="1176478"/>
            <a:ext cx="7072916" cy="2643670"/>
          </a:xfrm>
          <a:prstGeom prst="rect">
            <a:avLst/>
          </a:prstGeom>
        </p:spPr>
        <p:txBody>
          <a:bodyPr anchor="t" rtlCol="false" tIns="0" lIns="0" bIns="0" rIns="0">
            <a:spAutoFit/>
          </a:bodyPr>
          <a:lstStyle/>
          <a:p>
            <a:pPr algn="l">
              <a:lnSpc>
                <a:spcPts val="9764"/>
              </a:lnSpc>
            </a:pPr>
            <a:r>
              <a:rPr lang="en-US" sz="10066" b="true">
                <a:solidFill>
                  <a:srgbClr val="1C2120"/>
                </a:solidFill>
                <a:latin typeface="Poppins Bold"/>
                <a:ea typeface="Poppins Bold"/>
                <a:cs typeface="Poppins Bold"/>
                <a:sym typeface="Poppins Bold"/>
              </a:rPr>
              <a:t>Manfaat penelitian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833722"/>
            <a:ext cx="9400493" cy="1188084"/>
          </a:xfrm>
          <a:prstGeom prst="rect">
            <a:avLst/>
          </a:prstGeom>
        </p:spPr>
        <p:txBody>
          <a:bodyPr anchor="t" rtlCol="false" tIns="0" lIns="0" bIns="0" rIns="0">
            <a:spAutoFit/>
          </a:bodyPr>
          <a:lstStyle/>
          <a:p>
            <a:pPr algn="l">
              <a:lnSpc>
                <a:spcPts val="3227"/>
              </a:lnSpc>
            </a:pPr>
            <a:r>
              <a:rPr lang="en-US" sz="2390" spc="143">
                <a:solidFill>
                  <a:srgbClr val="000000"/>
                </a:solidFill>
                <a:latin typeface="DM Sans"/>
                <a:ea typeface="DM Sans"/>
                <a:cs typeface="DM Sans"/>
                <a:sym typeface="DM Sans"/>
              </a:rPr>
              <a:t>Jumlah Baris (Data Sekolah): 427</a:t>
            </a:r>
          </a:p>
          <a:p>
            <a:pPr algn="l">
              <a:lnSpc>
                <a:spcPts val="3227"/>
              </a:lnSpc>
            </a:pPr>
            <a:r>
              <a:rPr lang="en-US" sz="2390" spc="143">
                <a:solidFill>
                  <a:srgbClr val="000000"/>
                </a:solidFill>
                <a:latin typeface="DM Sans"/>
                <a:ea typeface="DM Sans"/>
                <a:cs typeface="DM Sans"/>
                <a:sym typeface="DM Sans"/>
              </a:rPr>
              <a:t>Jumlah Kolom: 15</a:t>
            </a:r>
          </a:p>
          <a:p>
            <a:pPr algn="l" marL="0" indent="0" lvl="0">
              <a:lnSpc>
                <a:spcPts val="3227"/>
              </a:lnSpc>
              <a:spcBef>
                <a:spcPct val="0"/>
              </a:spcBef>
            </a:pPr>
          </a:p>
        </p:txBody>
      </p:sp>
      <p:grpSp>
        <p:nvGrpSpPr>
          <p:cNvPr name="Group 3" id="3"/>
          <p:cNvGrpSpPr/>
          <p:nvPr/>
        </p:nvGrpSpPr>
        <p:grpSpPr>
          <a:xfrm rot="0">
            <a:off x="1129992" y="8746003"/>
            <a:ext cx="3958846" cy="1024593"/>
            <a:chOff x="0" y="0"/>
            <a:chExt cx="5278462" cy="1366124"/>
          </a:xfrm>
        </p:grpSpPr>
        <p:grpSp>
          <p:nvGrpSpPr>
            <p:cNvPr name="Group 4" id="4"/>
            <p:cNvGrpSpPr/>
            <p:nvPr/>
          </p:nvGrpSpPr>
          <p:grpSpPr>
            <a:xfrm rot="0">
              <a:off x="0" y="0"/>
              <a:ext cx="1366124" cy="136612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87453" y="292488"/>
              <a:ext cx="791218" cy="781148"/>
            </a:xfrm>
            <a:custGeom>
              <a:avLst/>
              <a:gdLst/>
              <a:ahLst/>
              <a:cxnLst/>
              <a:rect r="r" b="b" t="t" l="l"/>
              <a:pathLst>
                <a:path h="781148" w="791218">
                  <a:moveTo>
                    <a:pt x="0" y="0"/>
                  </a:moveTo>
                  <a:lnTo>
                    <a:pt x="791218" y="0"/>
                  </a:lnTo>
                  <a:lnTo>
                    <a:pt x="791218" y="781148"/>
                  </a:lnTo>
                  <a:lnTo>
                    <a:pt x="0" y="7811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2024372" y="0"/>
              <a:ext cx="1366124" cy="1366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246061" y="464624"/>
              <a:ext cx="922745" cy="609012"/>
            </a:xfrm>
            <a:custGeom>
              <a:avLst/>
              <a:gdLst/>
              <a:ahLst/>
              <a:cxnLst/>
              <a:rect r="r" b="b" t="t" l="l"/>
              <a:pathLst>
                <a:path h="609012" w="922745">
                  <a:moveTo>
                    <a:pt x="0" y="0"/>
                  </a:moveTo>
                  <a:lnTo>
                    <a:pt x="922745" y="0"/>
                  </a:lnTo>
                  <a:lnTo>
                    <a:pt x="922745" y="609012"/>
                  </a:lnTo>
                  <a:lnTo>
                    <a:pt x="0" y="609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3912338" y="0"/>
              <a:ext cx="1366124" cy="136612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4266796" y="284095"/>
              <a:ext cx="657208" cy="797935"/>
            </a:xfrm>
            <a:custGeom>
              <a:avLst/>
              <a:gdLst/>
              <a:ahLst/>
              <a:cxnLst/>
              <a:rect r="r" b="b" t="t" l="l"/>
              <a:pathLst>
                <a:path h="797935" w="657208">
                  <a:moveTo>
                    <a:pt x="0" y="0"/>
                  </a:moveTo>
                  <a:lnTo>
                    <a:pt x="657208" y="0"/>
                  </a:lnTo>
                  <a:lnTo>
                    <a:pt x="657208" y="797934"/>
                  </a:lnTo>
                  <a:lnTo>
                    <a:pt x="0" y="797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6" id="16"/>
          <p:cNvGrpSpPr/>
          <p:nvPr/>
        </p:nvGrpSpPr>
        <p:grpSpPr>
          <a:xfrm rot="0">
            <a:off x="9789484" y="2805578"/>
            <a:ext cx="8498516" cy="5513412"/>
            <a:chOff x="0" y="0"/>
            <a:chExt cx="11331355" cy="7351216"/>
          </a:xfrm>
        </p:grpSpPr>
        <p:sp>
          <p:nvSpPr>
            <p:cNvPr name="Freeform 17" id="17"/>
            <p:cNvSpPr/>
            <p:nvPr/>
          </p:nvSpPr>
          <p:spPr>
            <a:xfrm flipH="false" flipV="false" rot="0">
              <a:off x="0" y="0"/>
              <a:ext cx="11331355" cy="7351216"/>
            </a:xfrm>
            <a:custGeom>
              <a:avLst/>
              <a:gdLst/>
              <a:ahLst/>
              <a:cxnLst/>
              <a:rect r="r" b="b" t="t" l="l"/>
              <a:pathLst>
                <a:path h="7351216" w="11331355">
                  <a:moveTo>
                    <a:pt x="0" y="0"/>
                  </a:moveTo>
                  <a:lnTo>
                    <a:pt x="11331355" y="0"/>
                  </a:lnTo>
                  <a:lnTo>
                    <a:pt x="11331355" y="7351216"/>
                  </a:lnTo>
                  <a:lnTo>
                    <a:pt x="0" y="7351216"/>
                  </a:lnTo>
                  <a:lnTo>
                    <a:pt x="0" y="0"/>
                  </a:lnTo>
                  <a:close/>
                </a:path>
              </a:pathLst>
            </a:custGeom>
            <a:blipFill>
              <a:blip r:embed="rId8"/>
              <a:stretch>
                <a:fillRect l="0" t="0" r="0" b="0"/>
              </a:stretch>
            </a:blipFill>
          </p:spPr>
        </p:sp>
        <p:sp>
          <p:nvSpPr>
            <p:cNvPr name="Freeform 18" id="18"/>
            <p:cNvSpPr/>
            <p:nvPr/>
          </p:nvSpPr>
          <p:spPr>
            <a:xfrm flipH="false" flipV="false" rot="0">
              <a:off x="964236" y="630001"/>
              <a:ext cx="9402883" cy="5288247"/>
            </a:xfrm>
            <a:custGeom>
              <a:avLst/>
              <a:gdLst/>
              <a:ahLst/>
              <a:cxnLst/>
              <a:rect r="r" b="b" t="t" l="l"/>
              <a:pathLst>
                <a:path h="5288247" w="9402883">
                  <a:moveTo>
                    <a:pt x="0" y="0"/>
                  </a:moveTo>
                  <a:lnTo>
                    <a:pt x="9402883" y="0"/>
                  </a:lnTo>
                  <a:lnTo>
                    <a:pt x="9402883" y="5288247"/>
                  </a:lnTo>
                  <a:lnTo>
                    <a:pt x="0" y="5288247"/>
                  </a:lnTo>
                  <a:lnTo>
                    <a:pt x="0" y="0"/>
                  </a:lnTo>
                  <a:close/>
                </a:path>
              </a:pathLst>
            </a:custGeom>
            <a:blipFill>
              <a:blip r:embed="rId9"/>
              <a:stretch>
                <a:fillRect l="-25078" t="0" r="-25078" b="0"/>
              </a:stretch>
            </a:blipFill>
          </p:spPr>
        </p:sp>
      </p:grpSp>
      <p:sp>
        <p:nvSpPr>
          <p:cNvPr name="TextBox 19" id="19"/>
          <p:cNvSpPr txBox="true"/>
          <p:nvPr/>
        </p:nvSpPr>
        <p:spPr>
          <a:xfrm rot="0">
            <a:off x="1028700" y="2767478"/>
            <a:ext cx="9400493" cy="5978525"/>
          </a:xfrm>
          <a:prstGeom prst="rect">
            <a:avLst/>
          </a:prstGeom>
        </p:spPr>
        <p:txBody>
          <a:bodyPr anchor="t" rtlCol="false" tIns="0" lIns="0" bIns="0" rIns="0">
            <a:spAutoFit/>
          </a:bodyPr>
          <a:lstStyle/>
          <a:p>
            <a:pPr algn="l">
              <a:lnSpc>
                <a:spcPts val="2799"/>
              </a:lnSpc>
            </a:pPr>
            <a:r>
              <a:rPr lang="en-US" sz="1999">
                <a:solidFill>
                  <a:srgbClr val="000000"/>
                </a:solidFill>
                <a:latin typeface="Open Sans"/>
                <a:ea typeface="Open Sans"/>
                <a:cs typeface="Open Sans"/>
                <a:sym typeface="Open Sans"/>
              </a:rPr>
              <a:t>Nama Kolom:</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BOROUGH – Wilayah administratif (misal: DKI Jakarta, Jawa </a:t>
            </a:r>
            <a:r>
              <a:rPr lang="en-US" sz="1999">
                <a:solidFill>
                  <a:srgbClr val="000000"/>
                </a:solidFill>
                <a:latin typeface="Open Sans"/>
                <a:ea typeface="Open Sans"/>
                <a:cs typeface="Open Sans"/>
                <a:sym typeface="Open Sans"/>
              </a:rPr>
              <a:t>Timur)</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SCHOOL_NAME – Nama sekolah</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NEIGHBORHOOD – Nama wilayah atau kecamatan</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INTEREST – Program minat atau jurusan</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METHOD – Metode seleksi masuk</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TOTAL_STUDENTS – Jumlah total siswa</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GRADUATION_RATE – Persentase kelulusan</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ATTENDANCE_RATE – Persentase kehadiran</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COLLEGE_CAREER_RATE – Persentase lanjut kuliah atau karier</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SAFE – Skor persepsi keamanan</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SEATS – Jumlah kursi atau daya tampung</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APPLICANTS – Jumlah pendaftar</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LANGUAGE_CLASSES – Bahasa asing yang diajarkan</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ADVANCED_PLACEMENT_COURSES – Mata pelajaran tingkat lanjut (AP)</a:t>
            </a:r>
          </a:p>
          <a:p>
            <a:pPr algn="l" marL="431797" indent="-215899" lvl="1">
              <a:lnSpc>
                <a:spcPts val="2799"/>
              </a:lnSpc>
              <a:buAutoNum type="arabicPeriod" startAt="1"/>
            </a:pPr>
            <a:r>
              <a:rPr lang="en-US" sz="1999">
                <a:solidFill>
                  <a:srgbClr val="000000"/>
                </a:solidFill>
                <a:latin typeface="Open Sans"/>
                <a:ea typeface="Open Sans"/>
                <a:cs typeface="Open Sans"/>
                <a:sym typeface="Open Sans"/>
              </a:rPr>
              <a:t>SCHOOL_SPORTS – Jenis olahraga yang tersedia</a:t>
            </a:r>
          </a:p>
          <a:p>
            <a:pPr algn="l">
              <a:lnSpc>
                <a:spcPts val="2799"/>
              </a:lnSpc>
            </a:pPr>
          </a:p>
        </p:txBody>
      </p:sp>
      <p:grpSp>
        <p:nvGrpSpPr>
          <p:cNvPr name="Group 20" id="20"/>
          <p:cNvGrpSpPr/>
          <p:nvPr/>
        </p:nvGrpSpPr>
        <p:grpSpPr>
          <a:xfrm rot="0">
            <a:off x="7739363" y="446125"/>
            <a:ext cx="2809273" cy="582575"/>
            <a:chOff x="0" y="0"/>
            <a:chExt cx="3745698" cy="776766"/>
          </a:xfrm>
        </p:grpSpPr>
        <p:grpSp>
          <p:nvGrpSpPr>
            <p:cNvPr name="Group 21" id="21"/>
            <p:cNvGrpSpPr/>
            <p:nvPr/>
          </p:nvGrpSpPr>
          <p:grpSpPr>
            <a:xfrm rot="0">
              <a:off x="0" y="0"/>
              <a:ext cx="3745698" cy="776766"/>
              <a:chOff x="0" y="0"/>
              <a:chExt cx="739891" cy="153435"/>
            </a:xfrm>
          </p:grpSpPr>
          <p:sp>
            <p:nvSpPr>
              <p:cNvPr name="Freeform 22" id="22"/>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23" id="23"/>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Dataset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39363" y="446125"/>
            <a:ext cx="2809273" cy="582575"/>
            <a:chOff x="0" y="0"/>
            <a:chExt cx="3745698" cy="776766"/>
          </a:xfrm>
        </p:grpSpPr>
        <p:grpSp>
          <p:nvGrpSpPr>
            <p:cNvPr name="Group 3" id="3"/>
            <p:cNvGrpSpPr/>
            <p:nvPr/>
          </p:nvGrpSpPr>
          <p:grpSpPr>
            <a:xfrm rot="0">
              <a:off x="0" y="0"/>
              <a:ext cx="3745698" cy="776766"/>
              <a:chOff x="0" y="0"/>
              <a:chExt cx="739891" cy="153435"/>
            </a:xfrm>
          </p:grpSpPr>
          <p:sp>
            <p:nvSpPr>
              <p:cNvPr name="Freeform 4" id="4"/>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5" id="5"/>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Storyboard</a:t>
              </a:r>
            </a:p>
          </p:txBody>
        </p:sp>
      </p:grpSp>
      <p:sp>
        <p:nvSpPr>
          <p:cNvPr name="Freeform 7" id="7"/>
          <p:cNvSpPr/>
          <p:nvPr/>
        </p:nvSpPr>
        <p:spPr>
          <a:xfrm flipH="false" flipV="false" rot="0">
            <a:off x="4415826" y="1706007"/>
            <a:ext cx="9456347" cy="6874986"/>
          </a:xfrm>
          <a:custGeom>
            <a:avLst/>
            <a:gdLst/>
            <a:ahLst/>
            <a:cxnLst/>
            <a:rect r="r" b="b" t="t" l="l"/>
            <a:pathLst>
              <a:path h="6874986" w="9456347">
                <a:moveTo>
                  <a:pt x="0" y="0"/>
                </a:moveTo>
                <a:lnTo>
                  <a:pt x="9456348" y="0"/>
                </a:lnTo>
                <a:lnTo>
                  <a:pt x="9456348" y="6874986"/>
                </a:lnTo>
                <a:lnTo>
                  <a:pt x="0" y="6874986"/>
                </a:lnTo>
                <a:lnTo>
                  <a:pt x="0" y="0"/>
                </a:lnTo>
                <a:close/>
              </a:path>
            </a:pathLst>
          </a:custGeom>
          <a:blipFill>
            <a:blip r:embed="rId2"/>
            <a:stretch>
              <a:fillRect l="0" t="-5717" r="-1270" b="-5717"/>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39363" y="446125"/>
            <a:ext cx="2809273" cy="582575"/>
            <a:chOff x="0" y="0"/>
            <a:chExt cx="3745698" cy="776766"/>
          </a:xfrm>
        </p:grpSpPr>
        <p:grpSp>
          <p:nvGrpSpPr>
            <p:cNvPr name="Group 3" id="3"/>
            <p:cNvGrpSpPr/>
            <p:nvPr/>
          </p:nvGrpSpPr>
          <p:grpSpPr>
            <a:xfrm rot="0">
              <a:off x="0" y="0"/>
              <a:ext cx="3745698" cy="776766"/>
              <a:chOff x="0" y="0"/>
              <a:chExt cx="739891" cy="153435"/>
            </a:xfrm>
          </p:grpSpPr>
          <p:sp>
            <p:nvSpPr>
              <p:cNvPr name="Freeform 4" id="4"/>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5" id="5"/>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Use Case</a:t>
              </a:r>
            </a:p>
          </p:txBody>
        </p:sp>
      </p:grpSp>
      <p:sp>
        <p:nvSpPr>
          <p:cNvPr name="Freeform 7" id="7"/>
          <p:cNvSpPr/>
          <p:nvPr/>
        </p:nvSpPr>
        <p:spPr>
          <a:xfrm flipH="false" flipV="false" rot="0">
            <a:off x="6424614" y="1991226"/>
            <a:ext cx="5438773" cy="6874986"/>
          </a:xfrm>
          <a:custGeom>
            <a:avLst/>
            <a:gdLst/>
            <a:ahLst/>
            <a:cxnLst/>
            <a:rect r="r" b="b" t="t" l="l"/>
            <a:pathLst>
              <a:path h="6874986" w="5438773">
                <a:moveTo>
                  <a:pt x="0" y="0"/>
                </a:moveTo>
                <a:lnTo>
                  <a:pt x="5438772" y="0"/>
                </a:lnTo>
                <a:lnTo>
                  <a:pt x="5438772" y="6874986"/>
                </a:lnTo>
                <a:lnTo>
                  <a:pt x="0" y="6874986"/>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39363" y="446125"/>
            <a:ext cx="3704911" cy="582575"/>
            <a:chOff x="0" y="0"/>
            <a:chExt cx="4939881" cy="776766"/>
          </a:xfrm>
        </p:grpSpPr>
        <p:grpSp>
          <p:nvGrpSpPr>
            <p:cNvPr name="Group 3" id="3"/>
            <p:cNvGrpSpPr/>
            <p:nvPr/>
          </p:nvGrpSpPr>
          <p:grpSpPr>
            <a:xfrm rot="0">
              <a:off x="0" y="0"/>
              <a:ext cx="4939881" cy="776766"/>
              <a:chOff x="0" y="0"/>
              <a:chExt cx="975779" cy="153435"/>
            </a:xfrm>
          </p:grpSpPr>
          <p:sp>
            <p:nvSpPr>
              <p:cNvPr name="Freeform 4" id="4"/>
              <p:cNvSpPr/>
              <p:nvPr/>
            </p:nvSpPr>
            <p:spPr>
              <a:xfrm flipH="false" flipV="false" rot="0">
                <a:off x="0" y="0"/>
                <a:ext cx="975779" cy="153435"/>
              </a:xfrm>
              <a:custGeom>
                <a:avLst/>
                <a:gdLst/>
                <a:ahLst/>
                <a:cxnLst/>
                <a:rect r="r" b="b" t="t" l="l"/>
                <a:pathLst>
                  <a:path h="153435" w="975779">
                    <a:moveTo>
                      <a:pt x="76718" y="0"/>
                    </a:moveTo>
                    <a:lnTo>
                      <a:pt x="899061" y="0"/>
                    </a:lnTo>
                    <a:cubicBezTo>
                      <a:pt x="941431" y="0"/>
                      <a:pt x="975779" y="34348"/>
                      <a:pt x="975779" y="76718"/>
                    </a:cubicBezTo>
                    <a:lnTo>
                      <a:pt x="975779" y="76718"/>
                    </a:lnTo>
                    <a:cubicBezTo>
                      <a:pt x="975779" y="97064"/>
                      <a:pt x="967696" y="116578"/>
                      <a:pt x="953309" y="130965"/>
                    </a:cubicBezTo>
                    <a:cubicBezTo>
                      <a:pt x="938922" y="145353"/>
                      <a:pt x="919408" y="153435"/>
                      <a:pt x="8990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5" id="5"/>
              <p:cNvSpPr txBox="true"/>
              <p:nvPr/>
            </p:nvSpPr>
            <p:spPr>
              <a:xfrm>
                <a:off x="0" y="-38100"/>
                <a:ext cx="975779" cy="19153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92488" y="26433"/>
              <a:ext cx="3754904"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Site diagram</a:t>
              </a:r>
            </a:p>
          </p:txBody>
        </p:sp>
      </p:grpSp>
      <p:sp>
        <p:nvSpPr>
          <p:cNvPr name="Freeform 7" id="7"/>
          <p:cNvSpPr/>
          <p:nvPr/>
        </p:nvSpPr>
        <p:spPr>
          <a:xfrm flipH="false" flipV="false" rot="0">
            <a:off x="6424614" y="1991226"/>
            <a:ext cx="5438773" cy="6874986"/>
          </a:xfrm>
          <a:custGeom>
            <a:avLst/>
            <a:gdLst/>
            <a:ahLst/>
            <a:cxnLst/>
            <a:rect r="r" b="b" t="t" l="l"/>
            <a:pathLst>
              <a:path h="6874986" w="5438773">
                <a:moveTo>
                  <a:pt x="0" y="0"/>
                </a:moveTo>
                <a:lnTo>
                  <a:pt x="5438772" y="0"/>
                </a:lnTo>
                <a:lnTo>
                  <a:pt x="5438772" y="6874986"/>
                </a:lnTo>
                <a:lnTo>
                  <a:pt x="0" y="6874986"/>
                </a:lnTo>
                <a:lnTo>
                  <a:pt x="0" y="0"/>
                </a:lnTo>
                <a:close/>
              </a:path>
            </a:pathLst>
          </a:custGeom>
          <a:blipFill>
            <a:blip r:embed="rId2"/>
            <a:stretch>
              <a:fillRect l="0" t="-1797" r="0" b="-1797"/>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739363" y="446125"/>
            <a:ext cx="2809273" cy="582575"/>
            <a:chOff x="0" y="0"/>
            <a:chExt cx="3745698" cy="776766"/>
          </a:xfrm>
        </p:grpSpPr>
        <p:grpSp>
          <p:nvGrpSpPr>
            <p:cNvPr name="Group 3" id="3"/>
            <p:cNvGrpSpPr/>
            <p:nvPr/>
          </p:nvGrpSpPr>
          <p:grpSpPr>
            <a:xfrm rot="0">
              <a:off x="0" y="0"/>
              <a:ext cx="3745698" cy="776766"/>
              <a:chOff x="0" y="0"/>
              <a:chExt cx="739891" cy="153435"/>
            </a:xfrm>
          </p:grpSpPr>
          <p:sp>
            <p:nvSpPr>
              <p:cNvPr name="Freeform 4" id="4"/>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5" id="5"/>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Flowchart</a:t>
              </a:r>
            </a:p>
          </p:txBody>
        </p:sp>
      </p:grpSp>
      <p:sp>
        <p:nvSpPr>
          <p:cNvPr name="Freeform 7" id="7"/>
          <p:cNvSpPr/>
          <p:nvPr/>
        </p:nvSpPr>
        <p:spPr>
          <a:xfrm flipH="false" flipV="false" rot="0">
            <a:off x="7055986" y="1028700"/>
            <a:ext cx="4176029" cy="9258300"/>
          </a:xfrm>
          <a:custGeom>
            <a:avLst/>
            <a:gdLst/>
            <a:ahLst/>
            <a:cxnLst/>
            <a:rect r="r" b="b" t="t" l="l"/>
            <a:pathLst>
              <a:path h="9258300" w="4176029">
                <a:moveTo>
                  <a:pt x="0" y="0"/>
                </a:moveTo>
                <a:lnTo>
                  <a:pt x="4176028" y="0"/>
                </a:lnTo>
                <a:lnTo>
                  <a:pt x="4176028" y="9258300"/>
                </a:lnTo>
                <a:lnTo>
                  <a:pt x="0" y="9258300"/>
                </a:lnTo>
                <a:lnTo>
                  <a:pt x="0" y="0"/>
                </a:lnTo>
                <a:close/>
              </a:path>
            </a:pathLst>
          </a:custGeom>
          <a:blipFill>
            <a:blip r:embed="rId2"/>
            <a:stretch>
              <a:fillRect l="-702" t="-13832" r="-702"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277511"/>
            <a:ext cx="9400493" cy="391065"/>
          </a:xfrm>
          <a:prstGeom prst="rect">
            <a:avLst/>
          </a:prstGeom>
        </p:spPr>
        <p:txBody>
          <a:bodyPr anchor="t" rtlCol="false" tIns="0" lIns="0" bIns="0" rIns="0">
            <a:spAutoFit/>
          </a:bodyPr>
          <a:lstStyle/>
          <a:p>
            <a:pPr algn="l" marL="0" indent="0" lvl="0">
              <a:lnSpc>
                <a:spcPts val="3227"/>
              </a:lnSpc>
              <a:spcBef>
                <a:spcPct val="0"/>
              </a:spcBef>
            </a:pPr>
            <a:r>
              <a:rPr lang="en-US" sz="2390" spc="143">
                <a:solidFill>
                  <a:srgbClr val="000000"/>
                </a:solidFill>
                <a:latin typeface="DM Sans"/>
                <a:ea typeface="DM Sans"/>
                <a:cs typeface="DM Sans"/>
                <a:sym typeface="DM Sans"/>
              </a:rPr>
              <a:t> 8 entitas utama</a:t>
            </a:r>
          </a:p>
        </p:txBody>
      </p:sp>
      <p:grpSp>
        <p:nvGrpSpPr>
          <p:cNvPr name="Group 3" id="3"/>
          <p:cNvGrpSpPr/>
          <p:nvPr/>
        </p:nvGrpSpPr>
        <p:grpSpPr>
          <a:xfrm rot="0">
            <a:off x="1129992" y="8746003"/>
            <a:ext cx="3958846" cy="1024593"/>
            <a:chOff x="0" y="0"/>
            <a:chExt cx="5278462" cy="1366124"/>
          </a:xfrm>
        </p:grpSpPr>
        <p:grpSp>
          <p:nvGrpSpPr>
            <p:cNvPr name="Group 4" id="4"/>
            <p:cNvGrpSpPr/>
            <p:nvPr/>
          </p:nvGrpSpPr>
          <p:grpSpPr>
            <a:xfrm rot="0">
              <a:off x="0" y="0"/>
              <a:ext cx="1366124" cy="136612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287453" y="292488"/>
              <a:ext cx="791218" cy="781148"/>
            </a:xfrm>
            <a:custGeom>
              <a:avLst/>
              <a:gdLst/>
              <a:ahLst/>
              <a:cxnLst/>
              <a:rect r="r" b="b" t="t" l="l"/>
              <a:pathLst>
                <a:path h="781148" w="791218">
                  <a:moveTo>
                    <a:pt x="0" y="0"/>
                  </a:moveTo>
                  <a:lnTo>
                    <a:pt x="791218" y="0"/>
                  </a:lnTo>
                  <a:lnTo>
                    <a:pt x="791218" y="781148"/>
                  </a:lnTo>
                  <a:lnTo>
                    <a:pt x="0" y="7811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2024372" y="0"/>
              <a:ext cx="1366124" cy="13661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246061" y="464624"/>
              <a:ext cx="922745" cy="609012"/>
            </a:xfrm>
            <a:custGeom>
              <a:avLst/>
              <a:gdLst/>
              <a:ahLst/>
              <a:cxnLst/>
              <a:rect r="r" b="b" t="t" l="l"/>
              <a:pathLst>
                <a:path h="609012" w="922745">
                  <a:moveTo>
                    <a:pt x="0" y="0"/>
                  </a:moveTo>
                  <a:lnTo>
                    <a:pt x="922745" y="0"/>
                  </a:lnTo>
                  <a:lnTo>
                    <a:pt x="922745" y="609012"/>
                  </a:lnTo>
                  <a:lnTo>
                    <a:pt x="0" y="609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3912338" y="0"/>
              <a:ext cx="1366124" cy="136612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4266796" y="284095"/>
              <a:ext cx="657208" cy="797935"/>
            </a:xfrm>
            <a:custGeom>
              <a:avLst/>
              <a:gdLst/>
              <a:ahLst/>
              <a:cxnLst/>
              <a:rect r="r" b="b" t="t" l="l"/>
              <a:pathLst>
                <a:path h="797935" w="657208">
                  <a:moveTo>
                    <a:pt x="0" y="0"/>
                  </a:moveTo>
                  <a:lnTo>
                    <a:pt x="657208" y="0"/>
                  </a:lnTo>
                  <a:lnTo>
                    <a:pt x="657208" y="797934"/>
                  </a:lnTo>
                  <a:lnTo>
                    <a:pt x="0" y="797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6" id="16"/>
          <p:cNvSpPr/>
          <p:nvPr/>
        </p:nvSpPr>
        <p:spPr>
          <a:xfrm flipH="false" flipV="false" rot="0">
            <a:off x="5319304" y="2201419"/>
            <a:ext cx="11636742" cy="6544584"/>
          </a:xfrm>
          <a:custGeom>
            <a:avLst/>
            <a:gdLst/>
            <a:ahLst/>
            <a:cxnLst/>
            <a:rect r="r" b="b" t="t" l="l"/>
            <a:pathLst>
              <a:path h="6544584" w="11636742">
                <a:moveTo>
                  <a:pt x="0" y="0"/>
                </a:moveTo>
                <a:lnTo>
                  <a:pt x="11636742" y="0"/>
                </a:lnTo>
                <a:lnTo>
                  <a:pt x="11636742" y="6544584"/>
                </a:lnTo>
                <a:lnTo>
                  <a:pt x="0" y="6544584"/>
                </a:lnTo>
                <a:lnTo>
                  <a:pt x="0" y="0"/>
                </a:lnTo>
                <a:close/>
              </a:path>
            </a:pathLst>
          </a:custGeom>
          <a:blipFill>
            <a:blip r:embed="rId8"/>
            <a:stretch>
              <a:fillRect l="0" t="-6574" r="0" b="-11748"/>
            </a:stretch>
          </a:blipFill>
        </p:spPr>
      </p:sp>
      <p:sp>
        <p:nvSpPr>
          <p:cNvPr name="TextBox 17" id="17"/>
          <p:cNvSpPr txBox="true"/>
          <p:nvPr/>
        </p:nvSpPr>
        <p:spPr>
          <a:xfrm rot="0">
            <a:off x="1129992" y="3906017"/>
            <a:ext cx="9400493" cy="2806700"/>
          </a:xfrm>
          <a:prstGeom prst="rect">
            <a:avLst/>
          </a:prstGeom>
        </p:spPr>
        <p:txBody>
          <a:bodyPr anchor="t" rtlCol="false" tIns="0" lIns="0" bIns="0" rIns="0">
            <a:spAutoFit/>
          </a:bodyPr>
          <a:lstStyle/>
          <a:p>
            <a:pPr algn="l">
              <a:lnSpc>
                <a:spcPts val="2799"/>
              </a:lnSpc>
            </a:pPr>
            <a:r>
              <a:rPr lang="en-US" sz="1999">
                <a:solidFill>
                  <a:srgbClr val="000000"/>
                </a:solidFill>
                <a:latin typeface="Open Sans"/>
                <a:ea typeface="Open Sans"/>
                <a:cs typeface="Open Sans"/>
                <a:sym typeface="Open Sans"/>
              </a:rPr>
              <a:t> 1.</a:t>
            </a:r>
            <a:r>
              <a:rPr lang="en-US" sz="1999">
                <a:solidFill>
                  <a:srgbClr val="000000"/>
                </a:solidFill>
                <a:latin typeface="Open Sans"/>
                <a:ea typeface="Open Sans"/>
                <a:cs typeface="Open Sans"/>
                <a:sym typeface="Open Sans"/>
              </a:rPr>
              <a:t> </a:t>
            </a:r>
            <a:r>
              <a:rPr lang="en-US" sz="1999">
                <a:solidFill>
                  <a:srgbClr val="000000"/>
                </a:solidFill>
                <a:latin typeface="Open Sans"/>
                <a:ea typeface="Open Sans"/>
                <a:cs typeface="Open Sans"/>
                <a:sym typeface="Open Sans"/>
              </a:rPr>
              <a:t>School</a:t>
            </a:r>
          </a:p>
          <a:p>
            <a:pPr algn="l">
              <a:lnSpc>
                <a:spcPts val="2799"/>
              </a:lnSpc>
            </a:pPr>
            <a:r>
              <a:rPr lang="en-US" sz="1999">
                <a:solidFill>
                  <a:srgbClr val="000000"/>
                </a:solidFill>
                <a:latin typeface="Open Sans"/>
                <a:ea typeface="Open Sans"/>
                <a:cs typeface="Open Sans"/>
                <a:sym typeface="Open Sans"/>
              </a:rPr>
              <a:t> 2. Borough</a:t>
            </a:r>
          </a:p>
          <a:p>
            <a:pPr algn="l">
              <a:lnSpc>
                <a:spcPts val="2799"/>
              </a:lnSpc>
            </a:pPr>
            <a:r>
              <a:rPr lang="en-US" sz="1999">
                <a:solidFill>
                  <a:srgbClr val="000000"/>
                </a:solidFill>
                <a:latin typeface="Open Sans"/>
                <a:ea typeface="Open Sans"/>
                <a:cs typeface="Open Sans"/>
                <a:sym typeface="Open Sans"/>
              </a:rPr>
              <a:t>3. Neighborhood</a:t>
            </a:r>
          </a:p>
          <a:p>
            <a:pPr algn="l">
              <a:lnSpc>
                <a:spcPts val="2799"/>
              </a:lnSpc>
            </a:pPr>
            <a:r>
              <a:rPr lang="en-US" sz="1999">
                <a:solidFill>
                  <a:srgbClr val="000000"/>
                </a:solidFill>
                <a:latin typeface="Open Sans"/>
                <a:ea typeface="Open Sans"/>
                <a:cs typeface="Open Sans"/>
                <a:sym typeface="Open Sans"/>
              </a:rPr>
              <a:t>4. Interest</a:t>
            </a:r>
          </a:p>
          <a:p>
            <a:pPr algn="l">
              <a:lnSpc>
                <a:spcPts val="2799"/>
              </a:lnSpc>
            </a:pPr>
            <a:r>
              <a:rPr lang="en-US" sz="1999">
                <a:solidFill>
                  <a:srgbClr val="000000"/>
                </a:solidFill>
                <a:latin typeface="Open Sans"/>
                <a:ea typeface="Open Sans"/>
                <a:cs typeface="Open Sans"/>
                <a:sym typeface="Open Sans"/>
              </a:rPr>
              <a:t>5. Method</a:t>
            </a:r>
          </a:p>
          <a:p>
            <a:pPr algn="l">
              <a:lnSpc>
                <a:spcPts val="2799"/>
              </a:lnSpc>
            </a:pPr>
            <a:r>
              <a:rPr lang="en-US" sz="1999">
                <a:solidFill>
                  <a:srgbClr val="000000"/>
                </a:solidFill>
                <a:latin typeface="Open Sans"/>
                <a:ea typeface="Open Sans"/>
                <a:cs typeface="Open Sans"/>
                <a:sym typeface="Open Sans"/>
              </a:rPr>
              <a:t>6. Language</a:t>
            </a:r>
          </a:p>
          <a:p>
            <a:pPr algn="l">
              <a:lnSpc>
                <a:spcPts val="2799"/>
              </a:lnSpc>
            </a:pPr>
            <a:r>
              <a:rPr lang="en-US" sz="1999">
                <a:solidFill>
                  <a:srgbClr val="000000"/>
                </a:solidFill>
                <a:latin typeface="Open Sans"/>
                <a:ea typeface="Open Sans"/>
                <a:cs typeface="Open Sans"/>
                <a:sym typeface="Open Sans"/>
              </a:rPr>
              <a:t>7. Sport</a:t>
            </a:r>
          </a:p>
          <a:p>
            <a:pPr algn="l">
              <a:lnSpc>
                <a:spcPts val="2799"/>
              </a:lnSpc>
            </a:pPr>
            <a:r>
              <a:rPr lang="en-US" sz="1999">
                <a:solidFill>
                  <a:srgbClr val="000000"/>
                </a:solidFill>
                <a:latin typeface="Open Sans"/>
                <a:ea typeface="Open Sans"/>
                <a:cs typeface="Open Sans"/>
                <a:sym typeface="Open Sans"/>
              </a:rPr>
              <a:t> 8. AdvancedPlacementCourse</a:t>
            </a:r>
          </a:p>
        </p:txBody>
      </p:sp>
      <p:grpSp>
        <p:nvGrpSpPr>
          <p:cNvPr name="Group 18" id="18"/>
          <p:cNvGrpSpPr/>
          <p:nvPr/>
        </p:nvGrpSpPr>
        <p:grpSpPr>
          <a:xfrm rot="0">
            <a:off x="7739363" y="446125"/>
            <a:ext cx="2809273" cy="582575"/>
            <a:chOff x="0" y="0"/>
            <a:chExt cx="3745698" cy="776766"/>
          </a:xfrm>
        </p:grpSpPr>
        <p:grpSp>
          <p:nvGrpSpPr>
            <p:cNvPr name="Group 19" id="19"/>
            <p:cNvGrpSpPr/>
            <p:nvPr/>
          </p:nvGrpSpPr>
          <p:grpSpPr>
            <a:xfrm rot="0">
              <a:off x="0" y="0"/>
              <a:ext cx="3745698" cy="776766"/>
              <a:chOff x="0" y="0"/>
              <a:chExt cx="739891" cy="153435"/>
            </a:xfrm>
          </p:grpSpPr>
          <p:sp>
            <p:nvSpPr>
              <p:cNvPr name="Freeform 20" id="20"/>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21" id="21"/>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ERD</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9992" y="8746003"/>
            <a:ext cx="3958846" cy="1024593"/>
            <a:chOff x="0" y="0"/>
            <a:chExt cx="5278462" cy="1366124"/>
          </a:xfrm>
        </p:grpSpPr>
        <p:grpSp>
          <p:nvGrpSpPr>
            <p:cNvPr name="Group 3" id="3"/>
            <p:cNvGrpSpPr/>
            <p:nvPr/>
          </p:nvGrpSpPr>
          <p:grpSpPr>
            <a:xfrm rot="0">
              <a:off x="0" y="0"/>
              <a:ext cx="1366124" cy="13661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87453" y="292488"/>
              <a:ext cx="791218" cy="781148"/>
            </a:xfrm>
            <a:custGeom>
              <a:avLst/>
              <a:gdLst/>
              <a:ahLst/>
              <a:cxnLst/>
              <a:rect r="r" b="b" t="t" l="l"/>
              <a:pathLst>
                <a:path h="781148" w="791218">
                  <a:moveTo>
                    <a:pt x="0" y="0"/>
                  </a:moveTo>
                  <a:lnTo>
                    <a:pt x="791218" y="0"/>
                  </a:lnTo>
                  <a:lnTo>
                    <a:pt x="791218" y="781148"/>
                  </a:lnTo>
                  <a:lnTo>
                    <a:pt x="0" y="7811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024372" y="0"/>
              <a:ext cx="1366124" cy="13661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246061" y="464624"/>
              <a:ext cx="922745" cy="609012"/>
            </a:xfrm>
            <a:custGeom>
              <a:avLst/>
              <a:gdLst/>
              <a:ahLst/>
              <a:cxnLst/>
              <a:rect r="r" b="b" t="t" l="l"/>
              <a:pathLst>
                <a:path h="609012" w="922745">
                  <a:moveTo>
                    <a:pt x="0" y="0"/>
                  </a:moveTo>
                  <a:lnTo>
                    <a:pt x="922745" y="0"/>
                  </a:lnTo>
                  <a:lnTo>
                    <a:pt x="922745" y="609012"/>
                  </a:lnTo>
                  <a:lnTo>
                    <a:pt x="0" y="609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3912338" y="0"/>
              <a:ext cx="1366124" cy="13661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4266796" y="284095"/>
              <a:ext cx="657208" cy="797935"/>
            </a:xfrm>
            <a:custGeom>
              <a:avLst/>
              <a:gdLst/>
              <a:ahLst/>
              <a:cxnLst/>
              <a:rect r="r" b="b" t="t" l="l"/>
              <a:pathLst>
                <a:path h="797935" w="657208">
                  <a:moveTo>
                    <a:pt x="0" y="0"/>
                  </a:moveTo>
                  <a:lnTo>
                    <a:pt x="657208" y="0"/>
                  </a:lnTo>
                  <a:lnTo>
                    <a:pt x="657208" y="797934"/>
                  </a:lnTo>
                  <a:lnTo>
                    <a:pt x="0" y="797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5" id="15"/>
          <p:cNvSpPr/>
          <p:nvPr/>
        </p:nvSpPr>
        <p:spPr>
          <a:xfrm flipH="false" flipV="false" rot="0">
            <a:off x="3325629" y="2201419"/>
            <a:ext cx="11636742" cy="6544584"/>
          </a:xfrm>
          <a:custGeom>
            <a:avLst/>
            <a:gdLst/>
            <a:ahLst/>
            <a:cxnLst/>
            <a:rect r="r" b="b" t="t" l="l"/>
            <a:pathLst>
              <a:path h="6544584" w="11636742">
                <a:moveTo>
                  <a:pt x="0" y="0"/>
                </a:moveTo>
                <a:lnTo>
                  <a:pt x="11636742" y="0"/>
                </a:lnTo>
                <a:lnTo>
                  <a:pt x="11636742" y="6544584"/>
                </a:lnTo>
                <a:lnTo>
                  <a:pt x="0" y="6544584"/>
                </a:lnTo>
                <a:lnTo>
                  <a:pt x="0" y="0"/>
                </a:lnTo>
                <a:close/>
              </a:path>
            </a:pathLst>
          </a:custGeom>
          <a:blipFill>
            <a:blip r:embed="rId8"/>
            <a:stretch>
              <a:fillRect l="-1212" t="0" r="-1212" b="0"/>
            </a:stretch>
          </a:blipFill>
        </p:spPr>
      </p:sp>
      <p:grpSp>
        <p:nvGrpSpPr>
          <p:cNvPr name="Group 16" id="16"/>
          <p:cNvGrpSpPr/>
          <p:nvPr/>
        </p:nvGrpSpPr>
        <p:grpSpPr>
          <a:xfrm rot="0">
            <a:off x="7739363" y="446125"/>
            <a:ext cx="2809273" cy="1115975"/>
            <a:chOff x="0" y="0"/>
            <a:chExt cx="3745698" cy="1487966"/>
          </a:xfrm>
        </p:grpSpPr>
        <p:grpSp>
          <p:nvGrpSpPr>
            <p:cNvPr name="Group 17" id="17"/>
            <p:cNvGrpSpPr/>
            <p:nvPr/>
          </p:nvGrpSpPr>
          <p:grpSpPr>
            <a:xfrm rot="0">
              <a:off x="0" y="0"/>
              <a:ext cx="3745698" cy="1487966"/>
              <a:chOff x="0" y="0"/>
              <a:chExt cx="739891" cy="293919"/>
            </a:xfrm>
          </p:grpSpPr>
          <p:sp>
            <p:nvSpPr>
              <p:cNvPr name="Freeform 18" id="18"/>
              <p:cNvSpPr/>
              <p:nvPr/>
            </p:nvSpPr>
            <p:spPr>
              <a:xfrm flipH="false" flipV="false" rot="0">
                <a:off x="0" y="0"/>
                <a:ext cx="739891" cy="293919"/>
              </a:xfrm>
              <a:custGeom>
                <a:avLst/>
                <a:gdLst/>
                <a:ahLst/>
                <a:cxnLst/>
                <a:rect r="r" b="b" t="t" l="l"/>
                <a:pathLst>
                  <a:path h="293919" w="739891">
                    <a:moveTo>
                      <a:pt x="140548" y="0"/>
                    </a:moveTo>
                    <a:lnTo>
                      <a:pt x="599343" y="0"/>
                    </a:lnTo>
                    <a:cubicBezTo>
                      <a:pt x="676965" y="0"/>
                      <a:pt x="739891" y="62926"/>
                      <a:pt x="739891" y="140548"/>
                    </a:cubicBezTo>
                    <a:lnTo>
                      <a:pt x="739891" y="153371"/>
                    </a:lnTo>
                    <a:cubicBezTo>
                      <a:pt x="739891" y="190647"/>
                      <a:pt x="725083" y="226396"/>
                      <a:pt x="698725" y="252754"/>
                    </a:cubicBezTo>
                    <a:cubicBezTo>
                      <a:pt x="672367" y="279112"/>
                      <a:pt x="636619" y="293919"/>
                      <a:pt x="599343" y="293919"/>
                    </a:cubicBezTo>
                    <a:lnTo>
                      <a:pt x="140548" y="293919"/>
                    </a:lnTo>
                    <a:cubicBezTo>
                      <a:pt x="62926" y="293919"/>
                      <a:pt x="0" y="230994"/>
                      <a:pt x="0" y="153371"/>
                    </a:cubicBezTo>
                    <a:lnTo>
                      <a:pt x="0" y="140548"/>
                    </a:lnTo>
                    <a:cubicBezTo>
                      <a:pt x="0" y="62926"/>
                      <a:pt x="62926" y="0"/>
                      <a:pt x="140548" y="0"/>
                    </a:cubicBezTo>
                    <a:close/>
                  </a:path>
                </a:pathLst>
              </a:custGeom>
              <a:solidFill>
                <a:srgbClr val="AAD7D4"/>
              </a:solidFill>
            </p:spPr>
          </p:sp>
          <p:sp>
            <p:nvSpPr>
              <p:cNvPr name="TextBox 19" id="19"/>
              <p:cNvSpPr txBox="true"/>
              <p:nvPr/>
            </p:nvSpPr>
            <p:spPr>
              <a:xfrm>
                <a:off x="0" y="-38100"/>
                <a:ext cx="739891" cy="33201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449258" y="26433"/>
              <a:ext cx="2847181" cy="13779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data source </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9992" y="8746003"/>
            <a:ext cx="3958846" cy="1024593"/>
            <a:chOff x="0" y="0"/>
            <a:chExt cx="5278462" cy="1366124"/>
          </a:xfrm>
        </p:grpSpPr>
        <p:grpSp>
          <p:nvGrpSpPr>
            <p:cNvPr name="Group 3" id="3"/>
            <p:cNvGrpSpPr/>
            <p:nvPr/>
          </p:nvGrpSpPr>
          <p:grpSpPr>
            <a:xfrm rot="0">
              <a:off x="0" y="0"/>
              <a:ext cx="1366124" cy="13661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87453" y="292488"/>
              <a:ext cx="791218" cy="781148"/>
            </a:xfrm>
            <a:custGeom>
              <a:avLst/>
              <a:gdLst/>
              <a:ahLst/>
              <a:cxnLst/>
              <a:rect r="r" b="b" t="t" l="l"/>
              <a:pathLst>
                <a:path h="781148" w="791218">
                  <a:moveTo>
                    <a:pt x="0" y="0"/>
                  </a:moveTo>
                  <a:lnTo>
                    <a:pt x="791218" y="0"/>
                  </a:lnTo>
                  <a:lnTo>
                    <a:pt x="791218" y="781148"/>
                  </a:lnTo>
                  <a:lnTo>
                    <a:pt x="0" y="7811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024372" y="0"/>
              <a:ext cx="1366124" cy="13661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246061" y="464624"/>
              <a:ext cx="922745" cy="609012"/>
            </a:xfrm>
            <a:custGeom>
              <a:avLst/>
              <a:gdLst/>
              <a:ahLst/>
              <a:cxnLst/>
              <a:rect r="r" b="b" t="t" l="l"/>
              <a:pathLst>
                <a:path h="609012" w="922745">
                  <a:moveTo>
                    <a:pt x="0" y="0"/>
                  </a:moveTo>
                  <a:lnTo>
                    <a:pt x="922745" y="0"/>
                  </a:lnTo>
                  <a:lnTo>
                    <a:pt x="922745" y="609012"/>
                  </a:lnTo>
                  <a:lnTo>
                    <a:pt x="0" y="609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3912338" y="0"/>
              <a:ext cx="1366124" cy="13661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4266796" y="284095"/>
              <a:ext cx="657208" cy="797935"/>
            </a:xfrm>
            <a:custGeom>
              <a:avLst/>
              <a:gdLst/>
              <a:ahLst/>
              <a:cxnLst/>
              <a:rect r="r" b="b" t="t" l="l"/>
              <a:pathLst>
                <a:path h="797935" w="657208">
                  <a:moveTo>
                    <a:pt x="0" y="0"/>
                  </a:moveTo>
                  <a:lnTo>
                    <a:pt x="657208" y="0"/>
                  </a:lnTo>
                  <a:lnTo>
                    <a:pt x="657208" y="797934"/>
                  </a:lnTo>
                  <a:lnTo>
                    <a:pt x="0" y="797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5" id="15"/>
          <p:cNvSpPr/>
          <p:nvPr/>
        </p:nvSpPr>
        <p:spPr>
          <a:xfrm flipH="false" flipV="false" rot="0">
            <a:off x="3325629" y="1615060"/>
            <a:ext cx="11636742" cy="6544584"/>
          </a:xfrm>
          <a:custGeom>
            <a:avLst/>
            <a:gdLst/>
            <a:ahLst/>
            <a:cxnLst/>
            <a:rect r="r" b="b" t="t" l="l"/>
            <a:pathLst>
              <a:path h="6544584" w="11636742">
                <a:moveTo>
                  <a:pt x="0" y="0"/>
                </a:moveTo>
                <a:lnTo>
                  <a:pt x="11636742" y="0"/>
                </a:lnTo>
                <a:lnTo>
                  <a:pt x="11636742" y="6544584"/>
                </a:lnTo>
                <a:lnTo>
                  <a:pt x="0" y="6544584"/>
                </a:lnTo>
                <a:lnTo>
                  <a:pt x="0" y="0"/>
                </a:lnTo>
                <a:close/>
              </a:path>
            </a:pathLst>
          </a:custGeom>
          <a:blipFill>
            <a:blip r:embed="rId8"/>
            <a:stretch>
              <a:fillRect l="-4458" t="0" r="-4458" b="0"/>
            </a:stretch>
          </a:blipFill>
        </p:spPr>
      </p:sp>
      <p:grpSp>
        <p:nvGrpSpPr>
          <p:cNvPr name="Group 16" id="16"/>
          <p:cNvGrpSpPr/>
          <p:nvPr/>
        </p:nvGrpSpPr>
        <p:grpSpPr>
          <a:xfrm rot="0">
            <a:off x="6012062" y="446125"/>
            <a:ext cx="6263876" cy="582575"/>
            <a:chOff x="0" y="0"/>
            <a:chExt cx="8351834" cy="776766"/>
          </a:xfrm>
        </p:grpSpPr>
        <p:grpSp>
          <p:nvGrpSpPr>
            <p:cNvPr name="Group 17" id="17"/>
            <p:cNvGrpSpPr/>
            <p:nvPr/>
          </p:nvGrpSpPr>
          <p:grpSpPr>
            <a:xfrm rot="0">
              <a:off x="0" y="0"/>
              <a:ext cx="8351834" cy="776766"/>
              <a:chOff x="0" y="0"/>
              <a:chExt cx="1649745" cy="153435"/>
            </a:xfrm>
          </p:grpSpPr>
          <p:sp>
            <p:nvSpPr>
              <p:cNvPr name="Freeform 18" id="18"/>
              <p:cNvSpPr/>
              <p:nvPr/>
            </p:nvSpPr>
            <p:spPr>
              <a:xfrm flipH="false" flipV="false" rot="0">
                <a:off x="0" y="0"/>
                <a:ext cx="1649745" cy="153435"/>
              </a:xfrm>
              <a:custGeom>
                <a:avLst/>
                <a:gdLst/>
                <a:ahLst/>
                <a:cxnLst/>
                <a:rect r="r" b="b" t="t" l="l"/>
                <a:pathLst>
                  <a:path h="153435" w="1649745">
                    <a:moveTo>
                      <a:pt x="63034" y="0"/>
                    </a:moveTo>
                    <a:lnTo>
                      <a:pt x="1586711" y="0"/>
                    </a:lnTo>
                    <a:cubicBezTo>
                      <a:pt x="1621524" y="0"/>
                      <a:pt x="1649745" y="28221"/>
                      <a:pt x="1649745" y="63034"/>
                    </a:cubicBezTo>
                    <a:lnTo>
                      <a:pt x="1649745" y="90401"/>
                    </a:lnTo>
                    <a:cubicBezTo>
                      <a:pt x="1649745" y="107119"/>
                      <a:pt x="1643104" y="123152"/>
                      <a:pt x="1631283" y="134973"/>
                    </a:cubicBezTo>
                    <a:cubicBezTo>
                      <a:pt x="1619462" y="146794"/>
                      <a:pt x="1603429" y="153435"/>
                      <a:pt x="1586711" y="153435"/>
                    </a:cubicBezTo>
                    <a:lnTo>
                      <a:pt x="63034" y="153435"/>
                    </a:lnTo>
                    <a:cubicBezTo>
                      <a:pt x="28221" y="153435"/>
                      <a:pt x="0" y="125214"/>
                      <a:pt x="0" y="90401"/>
                    </a:cubicBezTo>
                    <a:lnTo>
                      <a:pt x="0" y="63034"/>
                    </a:lnTo>
                    <a:cubicBezTo>
                      <a:pt x="0" y="28221"/>
                      <a:pt x="28221" y="0"/>
                      <a:pt x="63034" y="0"/>
                    </a:cubicBezTo>
                    <a:close/>
                  </a:path>
                </a:pathLst>
              </a:custGeom>
              <a:solidFill>
                <a:srgbClr val="AAD7D4"/>
              </a:solidFill>
            </p:spPr>
          </p:sp>
          <p:sp>
            <p:nvSpPr>
              <p:cNvPr name="TextBox 19" id="19"/>
              <p:cNvSpPr txBox="true"/>
              <p:nvPr/>
            </p:nvSpPr>
            <p:spPr>
              <a:xfrm>
                <a:off x="0" y="-38100"/>
                <a:ext cx="1649745" cy="19153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001717" y="26433"/>
              <a:ext cx="6348399"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package specification </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9992" y="8746003"/>
            <a:ext cx="3958846" cy="1024593"/>
            <a:chOff x="0" y="0"/>
            <a:chExt cx="5278462" cy="1366124"/>
          </a:xfrm>
        </p:grpSpPr>
        <p:grpSp>
          <p:nvGrpSpPr>
            <p:cNvPr name="Group 3" id="3"/>
            <p:cNvGrpSpPr/>
            <p:nvPr/>
          </p:nvGrpSpPr>
          <p:grpSpPr>
            <a:xfrm rot="0">
              <a:off x="0" y="0"/>
              <a:ext cx="1366124" cy="13661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87453" y="292488"/>
              <a:ext cx="791218" cy="781148"/>
            </a:xfrm>
            <a:custGeom>
              <a:avLst/>
              <a:gdLst/>
              <a:ahLst/>
              <a:cxnLst/>
              <a:rect r="r" b="b" t="t" l="l"/>
              <a:pathLst>
                <a:path h="781148" w="791218">
                  <a:moveTo>
                    <a:pt x="0" y="0"/>
                  </a:moveTo>
                  <a:lnTo>
                    <a:pt x="791218" y="0"/>
                  </a:lnTo>
                  <a:lnTo>
                    <a:pt x="791218" y="781148"/>
                  </a:lnTo>
                  <a:lnTo>
                    <a:pt x="0" y="7811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024372" y="0"/>
              <a:ext cx="1366124" cy="13661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246061" y="464624"/>
              <a:ext cx="922745" cy="609012"/>
            </a:xfrm>
            <a:custGeom>
              <a:avLst/>
              <a:gdLst/>
              <a:ahLst/>
              <a:cxnLst/>
              <a:rect r="r" b="b" t="t" l="l"/>
              <a:pathLst>
                <a:path h="609012" w="922745">
                  <a:moveTo>
                    <a:pt x="0" y="0"/>
                  </a:moveTo>
                  <a:lnTo>
                    <a:pt x="922745" y="0"/>
                  </a:lnTo>
                  <a:lnTo>
                    <a:pt x="922745" y="609012"/>
                  </a:lnTo>
                  <a:lnTo>
                    <a:pt x="0" y="609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3912338" y="0"/>
              <a:ext cx="1366124" cy="13661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4266796" y="284095"/>
              <a:ext cx="657208" cy="797935"/>
            </a:xfrm>
            <a:custGeom>
              <a:avLst/>
              <a:gdLst/>
              <a:ahLst/>
              <a:cxnLst/>
              <a:rect r="r" b="b" t="t" l="l"/>
              <a:pathLst>
                <a:path h="797935" w="657208">
                  <a:moveTo>
                    <a:pt x="0" y="0"/>
                  </a:moveTo>
                  <a:lnTo>
                    <a:pt x="657208" y="0"/>
                  </a:lnTo>
                  <a:lnTo>
                    <a:pt x="657208" y="797934"/>
                  </a:lnTo>
                  <a:lnTo>
                    <a:pt x="0" y="797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5" id="15"/>
          <p:cNvSpPr/>
          <p:nvPr/>
        </p:nvSpPr>
        <p:spPr>
          <a:xfrm flipH="false" flipV="false" rot="0">
            <a:off x="3325629" y="1871208"/>
            <a:ext cx="11636742" cy="6544584"/>
          </a:xfrm>
          <a:custGeom>
            <a:avLst/>
            <a:gdLst/>
            <a:ahLst/>
            <a:cxnLst/>
            <a:rect r="r" b="b" t="t" l="l"/>
            <a:pathLst>
              <a:path h="6544584" w="11636742">
                <a:moveTo>
                  <a:pt x="0" y="0"/>
                </a:moveTo>
                <a:lnTo>
                  <a:pt x="11636742" y="0"/>
                </a:lnTo>
                <a:lnTo>
                  <a:pt x="11636742" y="6544584"/>
                </a:lnTo>
                <a:lnTo>
                  <a:pt x="0" y="6544584"/>
                </a:lnTo>
                <a:lnTo>
                  <a:pt x="0" y="0"/>
                </a:lnTo>
                <a:close/>
              </a:path>
            </a:pathLst>
          </a:custGeom>
          <a:blipFill>
            <a:blip r:embed="rId8"/>
            <a:stretch>
              <a:fillRect l="-6860" t="0" r="-6860" b="0"/>
            </a:stretch>
          </a:blipFill>
        </p:spPr>
      </p:sp>
      <p:grpSp>
        <p:nvGrpSpPr>
          <p:cNvPr name="Group 16" id="16"/>
          <p:cNvGrpSpPr/>
          <p:nvPr/>
        </p:nvGrpSpPr>
        <p:grpSpPr>
          <a:xfrm rot="0">
            <a:off x="4630221" y="446125"/>
            <a:ext cx="9027557" cy="1115975"/>
            <a:chOff x="0" y="0"/>
            <a:chExt cx="12036743" cy="1487966"/>
          </a:xfrm>
        </p:grpSpPr>
        <p:grpSp>
          <p:nvGrpSpPr>
            <p:cNvPr name="Group 17" id="17"/>
            <p:cNvGrpSpPr/>
            <p:nvPr/>
          </p:nvGrpSpPr>
          <p:grpSpPr>
            <a:xfrm rot="0">
              <a:off x="0" y="0"/>
              <a:ext cx="12036743" cy="1487966"/>
              <a:chOff x="0" y="0"/>
              <a:chExt cx="2377628" cy="293919"/>
            </a:xfrm>
          </p:grpSpPr>
          <p:sp>
            <p:nvSpPr>
              <p:cNvPr name="Freeform 18" id="18"/>
              <p:cNvSpPr/>
              <p:nvPr/>
            </p:nvSpPr>
            <p:spPr>
              <a:xfrm flipH="false" flipV="false" rot="0">
                <a:off x="0" y="0"/>
                <a:ext cx="2377628" cy="293919"/>
              </a:xfrm>
              <a:custGeom>
                <a:avLst/>
                <a:gdLst/>
                <a:ahLst/>
                <a:cxnLst/>
                <a:rect r="r" b="b" t="t" l="l"/>
                <a:pathLst>
                  <a:path h="293919" w="2377628">
                    <a:moveTo>
                      <a:pt x="43737" y="0"/>
                    </a:moveTo>
                    <a:lnTo>
                      <a:pt x="2333891" y="0"/>
                    </a:lnTo>
                    <a:cubicBezTo>
                      <a:pt x="2358047" y="0"/>
                      <a:pt x="2377628" y="19582"/>
                      <a:pt x="2377628" y="43737"/>
                    </a:cubicBezTo>
                    <a:lnTo>
                      <a:pt x="2377628" y="250182"/>
                    </a:lnTo>
                    <a:cubicBezTo>
                      <a:pt x="2377628" y="261782"/>
                      <a:pt x="2373020" y="272907"/>
                      <a:pt x="2364818" y="281109"/>
                    </a:cubicBezTo>
                    <a:cubicBezTo>
                      <a:pt x="2356616" y="289311"/>
                      <a:pt x="2345491" y="293919"/>
                      <a:pt x="2333891" y="293919"/>
                    </a:cubicBezTo>
                    <a:lnTo>
                      <a:pt x="43737" y="293919"/>
                    </a:lnTo>
                    <a:cubicBezTo>
                      <a:pt x="19582" y="293919"/>
                      <a:pt x="0" y="274338"/>
                      <a:pt x="0" y="250182"/>
                    </a:cubicBezTo>
                    <a:lnTo>
                      <a:pt x="0" y="43737"/>
                    </a:lnTo>
                    <a:cubicBezTo>
                      <a:pt x="0" y="19582"/>
                      <a:pt x="19582" y="0"/>
                      <a:pt x="43737" y="0"/>
                    </a:cubicBezTo>
                    <a:close/>
                  </a:path>
                </a:pathLst>
              </a:custGeom>
              <a:solidFill>
                <a:srgbClr val="AAD7D4"/>
              </a:solidFill>
            </p:spPr>
          </p:sp>
          <p:sp>
            <p:nvSpPr>
              <p:cNvPr name="TextBox 19" id="19"/>
              <p:cNvSpPr txBox="true"/>
              <p:nvPr/>
            </p:nvSpPr>
            <p:spPr>
              <a:xfrm>
                <a:off x="0" y="-38100"/>
                <a:ext cx="2377628" cy="33201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443685" y="26433"/>
              <a:ext cx="9149374" cy="13779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prosedur bernama update_interest_dynamic</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9992" y="8746003"/>
            <a:ext cx="3958846" cy="1024593"/>
            <a:chOff x="0" y="0"/>
            <a:chExt cx="5278462" cy="1366124"/>
          </a:xfrm>
        </p:grpSpPr>
        <p:grpSp>
          <p:nvGrpSpPr>
            <p:cNvPr name="Group 3" id="3"/>
            <p:cNvGrpSpPr/>
            <p:nvPr/>
          </p:nvGrpSpPr>
          <p:grpSpPr>
            <a:xfrm rot="0">
              <a:off x="0" y="0"/>
              <a:ext cx="1366124" cy="13661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87453" y="292488"/>
              <a:ext cx="791218" cy="781148"/>
            </a:xfrm>
            <a:custGeom>
              <a:avLst/>
              <a:gdLst/>
              <a:ahLst/>
              <a:cxnLst/>
              <a:rect r="r" b="b" t="t" l="l"/>
              <a:pathLst>
                <a:path h="781148" w="791218">
                  <a:moveTo>
                    <a:pt x="0" y="0"/>
                  </a:moveTo>
                  <a:lnTo>
                    <a:pt x="791218" y="0"/>
                  </a:lnTo>
                  <a:lnTo>
                    <a:pt x="791218" y="781148"/>
                  </a:lnTo>
                  <a:lnTo>
                    <a:pt x="0" y="7811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024372" y="0"/>
              <a:ext cx="1366124" cy="13661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246061" y="464624"/>
              <a:ext cx="922745" cy="609012"/>
            </a:xfrm>
            <a:custGeom>
              <a:avLst/>
              <a:gdLst/>
              <a:ahLst/>
              <a:cxnLst/>
              <a:rect r="r" b="b" t="t" l="l"/>
              <a:pathLst>
                <a:path h="609012" w="922745">
                  <a:moveTo>
                    <a:pt x="0" y="0"/>
                  </a:moveTo>
                  <a:lnTo>
                    <a:pt x="922745" y="0"/>
                  </a:lnTo>
                  <a:lnTo>
                    <a:pt x="922745" y="609012"/>
                  </a:lnTo>
                  <a:lnTo>
                    <a:pt x="0" y="609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3912338" y="0"/>
              <a:ext cx="1366124" cy="13661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4266796" y="284095"/>
              <a:ext cx="657208" cy="797935"/>
            </a:xfrm>
            <a:custGeom>
              <a:avLst/>
              <a:gdLst/>
              <a:ahLst/>
              <a:cxnLst/>
              <a:rect r="r" b="b" t="t" l="l"/>
              <a:pathLst>
                <a:path h="797935" w="657208">
                  <a:moveTo>
                    <a:pt x="0" y="0"/>
                  </a:moveTo>
                  <a:lnTo>
                    <a:pt x="657208" y="0"/>
                  </a:lnTo>
                  <a:lnTo>
                    <a:pt x="657208" y="797934"/>
                  </a:lnTo>
                  <a:lnTo>
                    <a:pt x="0" y="797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5" id="15"/>
          <p:cNvSpPr/>
          <p:nvPr/>
        </p:nvSpPr>
        <p:spPr>
          <a:xfrm flipH="false" flipV="false" rot="0">
            <a:off x="3325629" y="1615060"/>
            <a:ext cx="11636742" cy="6544584"/>
          </a:xfrm>
          <a:custGeom>
            <a:avLst/>
            <a:gdLst/>
            <a:ahLst/>
            <a:cxnLst/>
            <a:rect r="r" b="b" t="t" l="l"/>
            <a:pathLst>
              <a:path h="6544584" w="11636742">
                <a:moveTo>
                  <a:pt x="0" y="0"/>
                </a:moveTo>
                <a:lnTo>
                  <a:pt x="11636742" y="0"/>
                </a:lnTo>
                <a:lnTo>
                  <a:pt x="11636742" y="6544584"/>
                </a:lnTo>
                <a:lnTo>
                  <a:pt x="0" y="6544584"/>
                </a:lnTo>
                <a:lnTo>
                  <a:pt x="0" y="0"/>
                </a:lnTo>
                <a:close/>
              </a:path>
            </a:pathLst>
          </a:custGeom>
          <a:blipFill>
            <a:blip r:embed="rId8"/>
            <a:stretch>
              <a:fillRect l="-7282" t="0" r="-7282" b="0"/>
            </a:stretch>
          </a:blipFill>
        </p:spPr>
      </p:sp>
      <p:grpSp>
        <p:nvGrpSpPr>
          <p:cNvPr name="Group 16" id="16"/>
          <p:cNvGrpSpPr/>
          <p:nvPr/>
        </p:nvGrpSpPr>
        <p:grpSpPr>
          <a:xfrm rot="0">
            <a:off x="7739363" y="446125"/>
            <a:ext cx="2809273" cy="582575"/>
            <a:chOff x="0" y="0"/>
            <a:chExt cx="3745698" cy="776766"/>
          </a:xfrm>
        </p:grpSpPr>
        <p:grpSp>
          <p:nvGrpSpPr>
            <p:cNvPr name="Group 17" id="17"/>
            <p:cNvGrpSpPr/>
            <p:nvPr/>
          </p:nvGrpSpPr>
          <p:grpSpPr>
            <a:xfrm rot="0">
              <a:off x="0" y="0"/>
              <a:ext cx="3745698" cy="776766"/>
              <a:chOff x="0" y="0"/>
              <a:chExt cx="739891" cy="153435"/>
            </a:xfrm>
          </p:grpSpPr>
          <p:sp>
            <p:nvSpPr>
              <p:cNvPr name="Freeform 18" id="18"/>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19" id="19"/>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row trigger</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9992" y="8746003"/>
            <a:ext cx="3958846" cy="1024593"/>
            <a:chOff x="0" y="0"/>
            <a:chExt cx="5278462" cy="1366124"/>
          </a:xfrm>
        </p:grpSpPr>
        <p:grpSp>
          <p:nvGrpSpPr>
            <p:cNvPr name="Group 3" id="3"/>
            <p:cNvGrpSpPr/>
            <p:nvPr/>
          </p:nvGrpSpPr>
          <p:grpSpPr>
            <a:xfrm rot="0">
              <a:off x="0" y="0"/>
              <a:ext cx="1366124" cy="136612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287453" y="292488"/>
              <a:ext cx="791218" cy="781148"/>
            </a:xfrm>
            <a:custGeom>
              <a:avLst/>
              <a:gdLst/>
              <a:ahLst/>
              <a:cxnLst/>
              <a:rect r="r" b="b" t="t" l="l"/>
              <a:pathLst>
                <a:path h="781148" w="791218">
                  <a:moveTo>
                    <a:pt x="0" y="0"/>
                  </a:moveTo>
                  <a:lnTo>
                    <a:pt x="791218" y="0"/>
                  </a:lnTo>
                  <a:lnTo>
                    <a:pt x="791218" y="781148"/>
                  </a:lnTo>
                  <a:lnTo>
                    <a:pt x="0" y="7811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024372" y="0"/>
              <a:ext cx="1366124" cy="13661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2246061" y="464624"/>
              <a:ext cx="922745" cy="609012"/>
            </a:xfrm>
            <a:custGeom>
              <a:avLst/>
              <a:gdLst/>
              <a:ahLst/>
              <a:cxnLst/>
              <a:rect r="r" b="b" t="t" l="l"/>
              <a:pathLst>
                <a:path h="609012" w="922745">
                  <a:moveTo>
                    <a:pt x="0" y="0"/>
                  </a:moveTo>
                  <a:lnTo>
                    <a:pt x="922745" y="0"/>
                  </a:lnTo>
                  <a:lnTo>
                    <a:pt x="922745" y="609012"/>
                  </a:lnTo>
                  <a:lnTo>
                    <a:pt x="0" y="609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3912338" y="0"/>
              <a:ext cx="1366124" cy="13661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AD7D4"/>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4266796" y="284095"/>
              <a:ext cx="657208" cy="797935"/>
            </a:xfrm>
            <a:custGeom>
              <a:avLst/>
              <a:gdLst/>
              <a:ahLst/>
              <a:cxnLst/>
              <a:rect r="r" b="b" t="t" l="l"/>
              <a:pathLst>
                <a:path h="797935" w="657208">
                  <a:moveTo>
                    <a:pt x="0" y="0"/>
                  </a:moveTo>
                  <a:lnTo>
                    <a:pt x="657208" y="0"/>
                  </a:lnTo>
                  <a:lnTo>
                    <a:pt x="657208" y="797934"/>
                  </a:lnTo>
                  <a:lnTo>
                    <a:pt x="0" y="797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5" id="15"/>
          <p:cNvSpPr/>
          <p:nvPr/>
        </p:nvSpPr>
        <p:spPr>
          <a:xfrm flipH="false" flipV="false" rot="0">
            <a:off x="3325629" y="1871208"/>
            <a:ext cx="11636742" cy="6544584"/>
          </a:xfrm>
          <a:custGeom>
            <a:avLst/>
            <a:gdLst/>
            <a:ahLst/>
            <a:cxnLst/>
            <a:rect r="r" b="b" t="t" l="l"/>
            <a:pathLst>
              <a:path h="6544584" w="11636742">
                <a:moveTo>
                  <a:pt x="0" y="0"/>
                </a:moveTo>
                <a:lnTo>
                  <a:pt x="11636742" y="0"/>
                </a:lnTo>
                <a:lnTo>
                  <a:pt x="11636742" y="6544584"/>
                </a:lnTo>
                <a:lnTo>
                  <a:pt x="0" y="6544584"/>
                </a:lnTo>
                <a:lnTo>
                  <a:pt x="0" y="0"/>
                </a:lnTo>
                <a:close/>
              </a:path>
            </a:pathLst>
          </a:custGeom>
          <a:blipFill>
            <a:blip r:embed="rId8"/>
            <a:stretch>
              <a:fillRect l="-6860" t="0" r="-6860" b="0"/>
            </a:stretch>
          </a:blipFill>
        </p:spPr>
      </p:sp>
      <p:grpSp>
        <p:nvGrpSpPr>
          <p:cNvPr name="Group 16" id="16"/>
          <p:cNvGrpSpPr/>
          <p:nvPr/>
        </p:nvGrpSpPr>
        <p:grpSpPr>
          <a:xfrm rot="0">
            <a:off x="4898913" y="446125"/>
            <a:ext cx="8490175" cy="1115975"/>
            <a:chOff x="0" y="0"/>
            <a:chExt cx="11320233" cy="1487966"/>
          </a:xfrm>
        </p:grpSpPr>
        <p:grpSp>
          <p:nvGrpSpPr>
            <p:cNvPr name="Group 17" id="17"/>
            <p:cNvGrpSpPr/>
            <p:nvPr/>
          </p:nvGrpSpPr>
          <p:grpSpPr>
            <a:xfrm rot="0">
              <a:off x="0" y="0"/>
              <a:ext cx="11320233" cy="1487966"/>
              <a:chOff x="0" y="0"/>
              <a:chExt cx="2236095" cy="293919"/>
            </a:xfrm>
          </p:grpSpPr>
          <p:sp>
            <p:nvSpPr>
              <p:cNvPr name="Freeform 18" id="18"/>
              <p:cNvSpPr/>
              <p:nvPr/>
            </p:nvSpPr>
            <p:spPr>
              <a:xfrm flipH="false" flipV="false" rot="0">
                <a:off x="0" y="0"/>
                <a:ext cx="2236095" cy="293919"/>
              </a:xfrm>
              <a:custGeom>
                <a:avLst/>
                <a:gdLst/>
                <a:ahLst/>
                <a:cxnLst/>
                <a:rect r="r" b="b" t="t" l="l"/>
                <a:pathLst>
                  <a:path h="293919" w="2236095">
                    <a:moveTo>
                      <a:pt x="46505" y="0"/>
                    </a:moveTo>
                    <a:lnTo>
                      <a:pt x="2189590" y="0"/>
                    </a:lnTo>
                    <a:cubicBezTo>
                      <a:pt x="2215274" y="0"/>
                      <a:pt x="2236095" y="20821"/>
                      <a:pt x="2236095" y="46505"/>
                    </a:cubicBezTo>
                    <a:lnTo>
                      <a:pt x="2236095" y="247414"/>
                    </a:lnTo>
                    <a:cubicBezTo>
                      <a:pt x="2236095" y="273098"/>
                      <a:pt x="2215274" y="293919"/>
                      <a:pt x="2189590" y="293919"/>
                    </a:cubicBezTo>
                    <a:lnTo>
                      <a:pt x="46505" y="293919"/>
                    </a:lnTo>
                    <a:cubicBezTo>
                      <a:pt x="20821" y="293919"/>
                      <a:pt x="0" y="273098"/>
                      <a:pt x="0" y="247414"/>
                    </a:cubicBezTo>
                    <a:lnTo>
                      <a:pt x="0" y="46505"/>
                    </a:lnTo>
                    <a:cubicBezTo>
                      <a:pt x="0" y="20821"/>
                      <a:pt x="20821" y="0"/>
                      <a:pt x="46505" y="0"/>
                    </a:cubicBezTo>
                    <a:close/>
                  </a:path>
                </a:pathLst>
              </a:custGeom>
              <a:solidFill>
                <a:srgbClr val="AAD7D4"/>
              </a:solidFill>
            </p:spPr>
          </p:sp>
          <p:sp>
            <p:nvSpPr>
              <p:cNvPr name="TextBox 19" id="19"/>
              <p:cNvSpPr txBox="true"/>
              <p:nvPr/>
            </p:nvSpPr>
            <p:spPr>
              <a:xfrm>
                <a:off x="0" y="-38100"/>
                <a:ext cx="2236095" cy="33201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357747" y="26433"/>
              <a:ext cx="8604740" cy="13779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Check Constraint dan Primary Key Constraint. </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7641" y="1148961"/>
            <a:ext cx="16992718" cy="8109339"/>
            <a:chOff x="0" y="0"/>
            <a:chExt cx="13306111" cy="6350000"/>
          </a:xfrm>
        </p:grpSpPr>
        <p:sp>
          <p:nvSpPr>
            <p:cNvPr name="Freeform 3" id="3"/>
            <p:cNvSpPr/>
            <p:nvPr/>
          </p:nvSpPr>
          <p:spPr>
            <a:xfrm flipH="false" flipV="false" rot="0">
              <a:off x="0" y="0"/>
              <a:ext cx="13307382" cy="6350000"/>
            </a:xfrm>
            <a:custGeom>
              <a:avLst/>
              <a:gdLst/>
              <a:ahLst/>
              <a:cxnLst/>
              <a:rect r="r" b="b" t="t" l="l"/>
              <a:pathLst>
                <a:path h="6350000" w="13307382">
                  <a:moveTo>
                    <a:pt x="12542340" y="0"/>
                  </a:moveTo>
                  <a:lnTo>
                    <a:pt x="763771" y="0"/>
                  </a:lnTo>
                  <a:cubicBezTo>
                    <a:pt x="340636" y="0"/>
                    <a:pt x="0" y="162560"/>
                    <a:pt x="0" y="364490"/>
                  </a:cubicBezTo>
                  <a:lnTo>
                    <a:pt x="0" y="5986780"/>
                  </a:lnTo>
                  <a:cubicBezTo>
                    <a:pt x="0" y="6187440"/>
                    <a:pt x="340636" y="6350000"/>
                    <a:pt x="763771" y="6350000"/>
                  </a:cubicBezTo>
                  <a:lnTo>
                    <a:pt x="12545002" y="6350000"/>
                  </a:lnTo>
                  <a:cubicBezTo>
                    <a:pt x="12965474" y="6350000"/>
                    <a:pt x="13307382" y="6187440"/>
                    <a:pt x="13307382" y="5985510"/>
                  </a:cubicBezTo>
                  <a:lnTo>
                    <a:pt x="13307382" y="364490"/>
                  </a:lnTo>
                  <a:cubicBezTo>
                    <a:pt x="13306110" y="162560"/>
                    <a:pt x="12965474" y="0"/>
                    <a:pt x="12542340" y="0"/>
                  </a:cubicBezTo>
                  <a:close/>
                </a:path>
              </a:pathLst>
            </a:custGeom>
            <a:blipFill>
              <a:blip r:embed="rId2"/>
              <a:stretch>
                <a:fillRect l="0" t="-105" r="0" b="-105"/>
              </a:stretch>
            </a:blipFill>
          </p:spPr>
        </p:sp>
      </p:grpSp>
      <p:grpSp>
        <p:nvGrpSpPr>
          <p:cNvPr name="Group 4" id="4"/>
          <p:cNvGrpSpPr/>
          <p:nvPr/>
        </p:nvGrpSpPr>
        <p:grpSpPr>
          <a:xfrm rot="0">
            <a:off x="7739363" y="183242"/>
            <a:ext cx="2809273" cy="582575"/>
            <a:chOff x="0" y="0"/>
            <a:chExt cx="3745698" cy="776766"/>
          </a:xfrm>
        </p:grpSpPr>
        <p:grpSp>
          <p:nvGrpSpPr>
            <p:cNvPr name="Group 5" id="5"/>
            <p:cNvGrpSpPr/>
            <p:nvPr/>
          </p:nvGrpSpPr>
          <p:grpSpPr>
            <a:xfrm rot="0">
              <a:off x="0" y="0"/>
              <a:ext cx="3745698" cy="776766"/>
              <a:chOff x="0" y="0"/>
              <a:chExt cx="739891" cy="153435"/>
            </a:xfrm>
          </p:grpSpPr>
          <p:sp>
            <p:nvSpPr>
              <p:cNvPr name="Freeform 6" id="6"/>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7" id="7"/>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Home Page</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7641" y="1148961"/>
            <a:ext cx="16992718" cy="8109339"/>
            <a:chOff x="0" y="0"/>
            <a:chExt cx="13306111" cy="6350000"/>
          </a:xfrm>
        </p:grpSpPr>
        <p:sp>
          <p:nvSpPr>
            <p:cNvPr name="Freeform 3" id="3"/>
            <p:cNvSpPr/>
            <p:nvPr/>
          </p:nvSpPr>
          <p:spPr>
            <a:xfrm flipH="false" flipV="false" rot="0">
              <a:off x="0" y="0"/>
              <a:ext cx="13307382" cy="6350000"/>
            </a:xfrm>
            <a:custGeom>
              <a:avLst/>
              <a:gdLst/>
              <a:ahLst/>
              <a:cxnLst/>
              <a:rect r="r" b="b" t="t" l="l"/>
              <a:pathLst>
                <a:path h="6350000" w="13307382">
                  <a:moveTo>
                    <a:pt x="12542340" y="0"/>
                  </a:moveTo>
                  <a:lnTo>
                    <a:pt x="763771" y="0"/>
                  </a:lnTo>
                  <a:cubicBezTo>
                    <a:pt x="340636" y="0"/>
                    <a:pt x="0" y="162560"/>
                    <a:pt x="0" y="364490"/>
                  </a:cubicBezTo>
                  <a:lnTo>
                    <a:pt x="0" y="5986780"/>
                  </a:lnTo>
                  <a:cubicBezTo>
                    <a:pt x="0" y="6187440"/>
                    <a:pt x="340636" y="6350000"/>
                    <a:pt x="763771" y="6350000"/>
                  </a:cubicBezTo>
                  <a:lnTo>
                    <a:pt x="12545002" y="6350000"/>
                  </a:lnTo>
                  <a:cubicBezTo>
                    <a:pt x="12965474" y="6350000"/>
                    <a:pt x="13307382" y="6187440"/>
                    <a:pt x="13307382" y="5985510"/>
                  </a:cubicBezTo>
                  <a:lnTo>
                    <a:pt x="13307382" y="364490"/>
                  </a:lnTo>
                  <a:cubicBezTo>
                    <a:pt x="13306110" y="162560"/>
                    <a:pt x="12965474" y="0"/>
                    <a:pt x="12542340" y="0"/>
                  </a:cubicBezTo>
                  <a:close/>
                </a:path>
              </a:pathLst>
            </a:custGeom>
            <a:blipFill>
              <a:blip r:embed="rId2"/>
              <a:stretch>
                <a:fillRect l="-862" t="0" r="-862" b="0"/>
              </a:stretch>
            </a:blipFill>
          </p:spPr>
        </p:sp>
      </p:grpSp>
      <p:grpSp>
        <p:nvGrpSpPr>
          <p:cNvPr name="Group 4" id="4"/>
          <p:cNvGrpSpPr/>
          <p:nvPr/>
        </p:nvGrpSpPr>
        <p:grpSpPr>
          <a:xfrm rot="0">
            <a:off x="7739363" y="183242"/>
            <a:ext cx="2809273" cy="582575"/>
            <a:chOff x="0" y="0"/>
            <a:chExt cx="3745698" cy="776766"/>
          </a:xfrm>
        </p:grpSpPr>
        <p:grpSp>
          <p:nvGrpSpPr>
            <p:cNvPr name="Group 5" id="5"/>
            <p:cNvGrpSpPr/>
            <p:nvPr/>
          </p:nvGrpSpPr>
          <p:grpSpPr>
            <a:xfrm rot="0">
              <a:off x="0" y="0"/>
              <a:ext cx="3745698" cy="776766"/>
              <a:chOff x="0" y="0"/>
              <a:chExt cx="739891" cy="153435"/>
            </a:xfrm>
          </p:grpSpPr>
          <p:sp>
            <p:nvSpPr>
              <p:cNvPr name="Freeform 6" id="6"/>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7" id="7"/>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Dashboard</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7641" y="1148961"/>
            <a:ext cx="16992718" cy="8109339"/>
            <a:chOff x="0" y="0"/>
            <a:chExt cx="13306111" cy="6350000"/>
          </a:xfrm>
        </p:grpSpPr>
        <p:sp>
          <p:nvSpPr>
            <p:cNvPr name="Freeform 3" id="3"/>
            <p:cNvSpPr/>
            <p:nvPr/>
          </p:nvSpPr>
          <p:spPr>
            <a:xfrm flipH="false" flipV="false" rot="0">
              <a:off x="0" y="0"/>
              <a:ext cx="13307382" cy="6350000"/>
            </a:xfrm>
            <a:custGeom>
              <a:avLst/>
              <a:gdLst/>
              <a:ahLst/>
              <a:cxnLst/>
              <a:rect r="r" b="b" t="t" l="l"/>
              <a:pathLst>
                <a:path h="6350000" w="13307382">
                  <a:moveTo>
                    <a:pt x="12542340" y="0"/>
                  </a:moveTo>
                  <a:lnTo>
                    <a:pt x="763771" y="0"/>
                  </a:lnTo>
                  <a:cubicBezTo>
                    <a:pt x="340636" y="0"/>
                    <a:pt x="0" y="162560"/>
                    <a:pt x="0" y="364490"/>
                  </a:cubicBezTo>
                  <a:lnTo>
                    <a:pt x="0" y="5986780"/>
                  </a:lnTo>
                  <a:cubicBezTo>
                    <a:pt x="0" y="6187440"/>
                    <a:pt x="340636" y="6350000"/>
                    <a:pt x="763771" y="6350000"/>
                  </a:cubicBezTo>
                  <a:lnTo>
                    <a:pt x="12545002" y="6350000"/>
                  </a:lnTo>
                  <a:cubicBezTo>
                    <a:pt x="12965474" y="6350000"/>
                    <a:pt x="13307382" y="6187440"/>
                    <a:pt x="13307382" y="5985510"/>
                  </a:cubicBezTo>
                  <a:lnTo>
                    <a:pt x="13307382" y="364490"/>
                  </a:lnTo>
                  <a:cubicBezTo>
                    <a:pt x="13306110" y="162560"/>
                    <a:pt x="12965474" y="0"/>
                    <a:pt x="12542340" y="0"/>
                  </a:cubicBezTo>
                  <a:close/>
                </a:path>
              </a:pathLst>
            </a:custGeom>
            <a:blipFill>
              <a:blip r:embed="rId2"/>
              <a:stretch>
                <a:fillRect l="-862" t="0" r="-862" b="0"/>
              </a:stretch>
            </a:blipFill>
          </p:spPr>
        </p:sp>
      </p:grpSp>
      <p:grpSp>
        <p:nvGrpSpPr>
          <p:cNvPr name="Group 4" id="4"/>
          <p:cNvGrpSpPr/>
          <p:nvPr/>
        </p:nvGrpSpPr>
        <p:grpSpPr>
          <a:xfrm rot="0">
            <a:off x="7739363" y="183242"/>
            <a:ext cx="2809273" cy="582575"/>
            <a:chOff x="0" y="0"/>
            <a:chExt cx="3745698" cy="776766"/>
          </a:xfrm>
        </p:grpSpPr>
        <p:grpSp>
          <p:nvGrpSpPr>
            <p:cNvPr name="Group 5" id="5"/>
            <p:cNvGrpSpPr/>
            <p:nvPr/>
          </p:nvGrpSpPr>
          <p:grpSpPr>
            <a:xfrm rot="0">
              <a:off x="0" y="0"/>
              <a:ext cx="3745698" cy="776766"/>
              <a:chOff x="0" y="0"/>
              <a:chExt cx="739891" cy="153435"/>
            </a:xfrm>
          </p:grpSpPr>
          <p:sp>
            <p:nvSpPr>
              <p:cNvPr name="Freeform 6" id="6"/>
              <p:cNvSpPr/>
              <p:nvPr/>
            </p:nvSpPr>
            <p:spPr>
              <a:xfrm flipH="false" flipV="false" rot="0">
                <a:off x="0" y="0"/>
                <a:ext cx="739891" cy="153435"/>
              </a:xfrm>
              <a:custGeom>
                <a:avLst/>
                <a:gdLst/>
                <a:ahLst/>
                <a:cxnLst/>
                <a:rect r="r" b="b" t="t" l="l"/>
                <a:pathLst>
                  <a:path h="153435" w="739891">
                    <a:moveTo>
                      <a:pt x="76718" y="0"/>
                    </a:moveTo>
                    <a:lnTo>
                      <a:pt x="663173" y="0"/>
                    </a:lnTo>
                    <a:cubicBezTo>
                      <a:pt x="683520" y="0"/>
                      <a:pt x="703033" y="8083"/>
                      <a:pt x="717421" y="22470"/>
                    </a:cubicBezTo>
                    <a:cubicBezTo>
                      <a:pt x="731808" y="36857"/>
                      <a:pt x="739891" y="56371"/>
                      <a:pt x="739891" y="76718"/>
                    </a:cubicBezTo>
                    <a:lnTo>
                      <a:pt x="739891" y="76718"/>
                    </a:lnTo>
                    <a:cubicBezTo>
                      <a:pt x="739891" y="97064"/>
                      <a:pt x="731808" y="116578"/>
                      <a:pt x="717421" y="130965"/>
                    </a:cubicBezTo>
                    <a:cubicBezTo>
                      <a:pt x="703033" y="145353"/>
                      <a:pt x="683520" y="153435"/>
                      <a:pt x="663173"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7" id="7"/>
              <p:cNvSpPr txBox="true"/>
              <p:nvPr/>
            </p:nvSpPr>
            <p:spPr>
              <a:xfrm>
                <a:off x="0" y="-38100"/>
                <a:ext cx="739891" cy="19153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449258" y="26433"/>
              <a:ext cx="2847181"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Search</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7641" y="1148961"/>
            <a:ext cx="16992718" cy="8109339"/>
            <a:chOff x="0" y="0"/>
            <a:chExt cx="13306111" cy="6350000"/>
          </a:xfrm>
        </p:grpSpPr>
        <p:sp>
          <p:nvSpPr>
            <p:cNvPr name="Freeform 3" id="3"/>
            <p:cNvSpPr/>
            <p:nvPr/>
          </p:nvSpPr>
          <p:spPr>
            <a:xfrm flipH="false" flipV="false" rot="0">
              <a:off x="0" y="0"/>
              <a:ext cx="13307382" cy="6350000"/>
            </a:xfrm>
            <a:custGeom>
              <a:avLst/>
              <a:gdLst/>
              <a:ahLst/>
              <a:cxnLst/>
              <a:rect r="r" b="b" t="t" l="l"/>
              <a:pathLst>
                <a:path h="6350000" w="13307382">
                  <a:moveTo>
                    <a:pt x="12542340" y="0"/>
                  </a:moveTo>
                  <a:lnTo>
                    <a:pt x="763771" y="0"/>
                  </a:lnTo>
                  <a:cubicBezTo>
                    <a:pt x="340636" y="0"/>
                    <a:pt x="0" y="162560"/>
                    <a:pt x="0" y="364490"/>
                  </a:cubicBezTo>
                  <a:lnTo>
                    <a:pt x="0" y="5986780"/>
                  </a:lnTo>
                  <a:cubicBezTo>
                    <a:pt x="0" y="6187440"/>
                    <a:pt x="340636" y="6350000"/>
                    <a:pt x="763771" y="6350000"/>
                  </a:cubicBezTo>
                  <a:lnTo>
                    <a:pt x="12545002" y="6350000"/>
                  </a:lnTo>
                  <a:cubicBezTo>
                    <a:pt x="12965474" y="6350000"/>
                    <a:pt x="13307382" y="6187440"/>
                    <a:pt x="13307382" y="5985510"/>
                  </a:cubicBezTo>
                  <a:lnTo>
                    <a:pt x="13307382" y="364490"/>
                  </a:lnTo>
                  <a:cubicBezTo>
                    <a:pt x="13306110" y="162560"/>
                    <a:pt x="12965474" y="0"/>
                    <a:pt x="12542340" y="0"/>
                  </a:cubicBezTo>
                  <a:close/>
                </a:path>
              </a:pathLst>
            </a:custGeom>
            <a:blipFill>
              <a:blip r:embed="rId2"/>
              <a:stretch>
                <a:fillRect l="-1059" t="0" r="-1059" b="0"/>
              </a:stretch>
            </a:blipFill>
          </p:spPr>
        </p:sp>
      </p:grpSp>
      <p:grpSp>
        <p:nvGrpSpPr>
          <p:cNvPr name="Group 4" id="4"/>
          <p:cNvGrpSpPr/>
          <p:nvPr/>
        </p:nvGrpSpPr>
        <p:grpSpPr>
          <a:xfrm rot="0">
            <a:off x="7238959" y="166836"/>
            <a:ext cx="3810082" cy="582575"/>
            <a:chOff x="0" y="0"/>
            <a:chExt cx="5080109" cy="776766"/>
          </a:xfrm>
        </p:grpSpPr>
        <p:grpSp>
          <p:nvGrpSpPr>
            <p:cNvPr name="Group 5" id="5"/>
            <p:cNvGrpSpPr/>
            <p:nvPr/>
          </p:nvGrpSpPr>
          <p:grpSpPr>
            <a:xfrm rot="0">
              <a:off x="0" y="0"/>
              <a:ext cx="5080109" cy="776766"/>
              <a:chOff x="0" y="0"/>
              <a:chExt cx="1003478" cy="153435"/>
            </a:xfrm>
          </p:grpSpPr>
          <p:sp>
            <p:nvSpPr>
              <p:cNvPr name="Freeform 6" id="6"/>
              <p:cNvSpPr/>
              <p:nvPr/>
            </p:nvSpPr>
            <p:spPr>
              <a:xfrm flipH="false" flipV="false" rot="0">
                <a:off x="0" y="0"/>
                <a:ext cx="1003478" cy="153435"/>
              </a:xfrm>
              <a:custGeom>
                <a:avLst/>
                <a:gdLst/>
                <a:ahLst/>
                <a:cxnLst/>
                <a:rect r="r" b="b" t="t" l="l"/>
                <a:pathLst>
                  <a:path h="153435" w="1003478">
                    <a:moveTo>
                      <a:pt x="76718" y="0"/>
                    </a:moveTo>
                    <a:lnTo>
                      <a:pt x="926761" y="0"/>
                    </a:lnTo>
                    <a:cubicBezTo>
                      <a:pt x="947107" y="0"/>
                      <a:pt x="966621" y="8083"/>
                      <a:pt x="981008" y="22470"/>
                    </a:cubicBezTo>
                    <a:cubicBezTo>
                      <a:pt x="995396" y="36857"/>
                      <a:pt x="1003478" y="56371"/>
                      <a:pt x="1003478" y="76718"/>
                    </a:cubicBezTo>
                    <a:lnTo>
                      <a:pt x="1003478" y="76718"/>
                    </a:lnTo>
                    <a:cubicBezTo>
                      <a:pt x="1003478" y="97064"/>
                      <a:pt x="995396" y="116578"/>
                      <a:pt x="981008" y="130965"/>
                    </a:cubicBezTo>
                    <a:cubicBezTo>
                      <a:pt x="966621" y="145353"/>
                      <a:pt x="947107" y="153435"/>
                      <a:pt x="926761" y="153435"/>
                    </a:cubicBezTo>
                    <a:lnTo>
                      <a:pt x="76718" y="153435"/>
                    </a:lnTo>
                    <a:cubicBezTo>
                      <a:pt x="56371" y="153435"/>
                      <a:pt x="36857" y="145353"/>
                      <a:pt x="22470" y="130965"/>
                    </a:cubicBezTo>
                    <a:cubicBezTo>
                      <a:pt x="8083" y="116578"/>
                      <a:pt x="0" y="97064"/>
                      <a:pt x="0" y="76718"/>
                    </a:cubicBezTo>
                    <a:lnTo>
                      <a:pt x="0" y="76718"/>
                    </a:lnTo>
                    <a:cubicBezTo>
                      <a:pt x="0" y="56371"/>
                      <a:pt x="8083" y="36857"/>
                      <a:pt x="22470" y="22470"/>
                    </a:cubicBezTo>
                    <a:cubicBezTo>
                      <a:pt x="36857" y="8083"/>
                      <a:pt x="56371" y="0"/>
                      <a:pt x="76718" y="0"/>
                    </a:cubicBezTo>
                    <a:close/>
                  </a:path>
                </a:pathLst>
              </a:custGeom>
              <a:solidFill>
                <a:srgbClr val="AAD7D4"/>
              </a:solidFill>
            </p:spPr>
          </p:sp>
          <p:sp>
            <p:nvSpPr>
              <p:cNvPr name="TextBox 7" id="7"/>
              <p:cNvSpPr txBox="true"/>
              <p:nvPr/>
            </p:nvSpPr>
            <p:spPr>
              <a:xfrm>
                <a:off x="0" y="-38100"/>
                <a:ext cx="1003478" cy="19153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09307" y="26433"/>
              <a:ext cx="3861495" cy="6667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School Report</a:t>
              </a:r>
            </a:p>
          </p:txBody>
        </p:sp>
      </p:grpSp>
    </p:spTree>
  </p:cSld>
  <p:clrMapOvr>
    <a:masterClrMapping/>
  </p:clrMapOvr>
</p:sld>
</file>

<file path=ppt/slides/slide21.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3182017" y="3400568"/>
            <a:ext cx="11923966" cy="2888952"/>
          </a:xfrm>
          <a:prstGeom prst="rect">
            <a:avLst/>
          </a:prstGeom>
        </p:spPr>
        <p:txBody>
          <a:bodyPr anchor="t" rtlCol="false" tIns="0" lIns="0" bIns="0" rIns="0">
            <a:spAutoFit/>
          </a:bodyPr>
          <a:lstStyle/>
          <a:p>
            <a:pPr algn="ctr">
              <a:lnSpc>
                <a:spcPts val="10460"/>
              </a:lnSpc>
            </a:pPr>
            <a:r>
              <a:rPr lang="en-US" b="true" sz="12023">
                <a:solidFill>
                  <a:srgbClr val="1C2120"/>
                </a:solidFill>
                <a:latin typeface="Poppins Bold"/>
                <a:ea typeface="Poppins Bold"/>
                <a:cs typeface="Poppins Bold"/>
                <a:sym typeface="Poppins Bold"/>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DAGo-fNNuTU</dc:identifier>
  <dcterms:modified xsi:type="dcterms:W3CDTF">2011-08-01T06:04:30Z</dcterms:modified>
  <cp:revision>1</cp:revision>
  <dc:title>Blue Minimalist Project Presentation</dc:title>
</cp:coreProperties>
</file>